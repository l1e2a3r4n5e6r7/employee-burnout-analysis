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49" r:id="rId1"/>
  </p:sldMasterIdLst>
  <p:notesMasterIdLst>
    <p:notesMasterId r:id="rId15"/>
  </p:notesMasterIdLst>
  <p:sldIdLst>
    <p:sldId id="256" r:id="rId2"/>
    <p:sldId id="257" r:id="rId3"/>
    <p:sldId id="258" r:id="rId4"/>
    <p:sldId id="259" r:id="rId5"/>
    <p:sldId id="260" r:id="rId6"/>
    <p:sldId id="261" r:id="rId7"/>
    <p:sldId id="262" r:id="rId8"/>
    <p:sldId id="263" r:id="rId9"/>
    <p:sldId id="265" r:id="rId10"/>
    <p:sldId id="266" r:id="rId11"/>
    <p:sldId id="267" r:id="rId12"/>
    <p:sldId id="269" r:id="rId13"/>
    <p:sldId id="27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F17903-D8C7-4867-86D2-B8424E36FF05}" v="22" dt="2024-07-13T17:35:17.480"/>
    <p1510:client id="{C9F1D970-2595-4551-8964-E8241545438C}" v="29" dt="2024-07-14T17:08:48.8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0" d="100"/>
          <a:sy n="90" d="100"/>
        </p:scale>
        <p:origin x="39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vsramaprasad1969@outlook.com" userId="6c8b891cdfe500c4" providerId="LiveId" clId="{C9F1D970-2595-4551-8964-E8241545438C}"/>
    <pc:docChg chg="undo custSel modSld sldOrd">
      <pc:chgData name="bvsramaprasad1969@outlook.com" userId="6c8b891cdfe500c4" providerId="LiveId" clId="{C9F1D970-2595-4551-8964-E8241545438C}" dt="2024-07-14T17:08:49.203" v="645"/>
      <pc:docMkLst>
        <pc:docMk/>
      </pc:docMkLst>
      <pc:sldChg chg="addSp delSp modSp mod">
        <pc:chgData name="bvsramaprasad1969@outlook.com" userId="6c8b891cdfe500c4" providerId="LiveId" clId="{C9F1D970-2595-4551-8964-E8241545438C}" dt="2024-07-14T17:08:47.025" v="636" actId="20577"/>
        <pc:sldMkLst>
          <pc:docMk/>
          <pc:sldMk cId="1709258690" sldId="256"/>
        </pc:sldMkLst>
        <pc:spChg chg="mod">
          <ac:chgData name="bvsramaprasad1969@outlook.com" userId="6c8b891cdfe500c4" providerId="LiveId" clId="{C9F1D970-2595-4551-8964-E8241545438C}" dt="2024-07-14T09:17:39.788" v="94" actId="27636"/>
          <ac:spMkLst>
            <pc:docMk/>
            <pc:sldMk cId="1709258690" sldId="256"/>
            <ac:spMk id="2" creationId="{12FB0555-224A-D8BE-7DD5-7D4D3F12E518}"/>
          </ac:spMkLst>
        </pc:spChg>
        <pc:spChg chg="mod">
          <ac:chgData name="bvsramaprasad1969@outlook.com" userId="6c8b891cdfe500c4" providerId="LiveId" clId="{C9F1D970-2595-4551-8964-E8241545438C}" dt="2024-07-14T17:08:47.025" v="636" actId="20577"/>
          <ac:spMkLst>
            <pc:docMk/>
            <pc:sldMk cId="1709258690" sldId="256"/>
            <ac:spMk id="3" creationId="{00FBB077-433A-2E32-4CEE-8C9C4AA714B8}"/>
          </ac:spMkLst>
        </pc:spChg>
        <pc:picChg chg="add del mod">
          <ac:chgData name="bvsramaprasad1969@outlook.com" userId="6c8b891cdfe500c4" providerId="LiveId" clId="{C9F1D970-2595-4551-8964-E8241545438C}" dt="2024-07-14T05:03:51.542" v="3" actId="478"/>
          <ac:picMkLst>
            <pc:docMk/>
            <pc:sldMk cId="1709258690" sldId="256"/>
            <ac:picMk id="5" creationId="{541E07EE-AE33-D3E2-A803-262F4BBD7ED5}"/>
          </ac:picMkLst>
        </pc:picChg>
        <pc:picChg chg="add del mod">
          <ac:chgData name="bvsramaprasad1969@outlook.com" userId="6c8b891cdfe500c4" providerId="LiveId" clId="{C9F1D970-2595-4551-8964-E8241545438C}" dt="2024-07-14T17:08:45.814" v="633" actId="478"/>
          <ac:picMkLst>
            <pc:docMk/>
            <pc:sldMk cId="1709258690" sldId="256"/>
            <ac:picMk id="7" creationId="{728D5404-FD76-48A9-B6C6-D24026DC93EC}"/>
          </ac:picMkLst>
        </pc:picChg>
      </pc:sldChg>
      <pc:sldChg chg="modSp mod">
        <pc:chgData name="bvsramaprasad1969@outlook.com" userId="6c8b891cdfe500c4" providerId="LiveId" clId="{C9F1D970-2595-4551-8964-E8241545438C}" dt="2024-07-14T09:15:18.254" v="53" actId="27636"/>
        <pc:sldMkLst>
          <pc:docMk/>
          <pc:sldMk cId="742738345" sldId="257"/>
        </pc:sldMkLst>
        <pc:spChg chg="mod">
          <ac:chgData name="bvsramaprasad1969@outlook.com" userId="6c8b891cdfe500c4" providerId="LiveId" clId="{C9F1D970-2595-4551-8964-E8241545438C}" dt="2024-07-14T09:15:18.254" v="53" actId="27636"/>
          <ac:spMkLst>
            <pc:docMk/>
            <pc:sldMk cId="742738345" sldId="257"/>
            <ac:spMk id="2" creationId="{4ED1E5D5-4B32-5987-2B43-3E745C9C6D71}"/>
          </ac:spMkLst>
        </pc:spChg>
      </pc:sldChg>
      <pc:sldChg chg="modSp mod">
        <pc:chgData name="bvsramaprasad1969@outlook.com" userId="6c8b891cdfe500c4" providerId="LiveId" clId="{C9F1D970-2595-4551-8964-E8241545438C}" dt="2024-07-14T09:45:42.989" v="390"/>
        <pc:sldMkLst>
          <pc:docMk/>
          <pc:sldMk cId="2542420165" sldId="258"/>
        </pc:sldMkLst>
        <pc:spChg chg="mod">
          <ac:chgData name="bvsramaprasad1969@outlook.com" userId="6c8b891cdfe500c4" providerId="LiveId" clId="{C9F1D970-2595-4551-8964-E8241545438C}" dt="2024-07-14T05:21:23.270" v="32" actId="27636"/>
          <ac:spMkLst>
            <pc:docMk/>
            <pc:sldMk cId="2542420165" sldId="258"/>
            <ac:spMk id="2" creationId="{31D4E2CC-F992-F46C-BC3E-1BB735CBAD28}"/>
          </ac:spMkLst>
        </pc:spChg>
        <pc:spChg chg="mod">
          <ac:chgData name="bvsramaprasad1969@outlook.com" userId="6c8b891cdfe500c4" providerId="LiveId" clId="{C9F1D970-2595-4551-8964-E8241545438C}" dt="2024-07-14T09:45:42.989" v="390"/>
          <ac:spMkLst>
            <pc:docMk/>
            <pc:sldMk cId="2542420165" sldId="258"/>
            <ac:spMk id="3" creationId="{A13CD398-B2FF-02E8-4421-440ACBD97C2B}"/>
          </ac:spMkLst>
        </pc:spChg>
      </pc:sldChg>
      <pc:sldChg chg="modSp mod">
        <pc:chgData name="bvsramaprasad1969@outlook.com" userId="6c8b891cdfe500c4" providerId="LiveId" clId="{C9F1D970-2595-4551-8964-E8241545438C}" dt="2024-07-14T09:45:42.989" v="390"/>
        <pc:sldMkLst>
          <pc:docMk/>
          <pc:sldMk cId="1647536361" sldId="259"/>
        </pc:sldMkLst>
        <pc:spChg chg="mod">
          <ac:chgData name="bvsramaprasad1969@outlook.com" userId="6c8b891cdfe500c4" providerId="LiveId" clId="{C9F1D970-2595-4551-8964-E8241545438C}" dt="2024-07-14T09:15:18.270" v="55" actId="27636"/>
          <ac:spMkLst>
            <pc:docMk/>
            <pc:sldMk cId="1647536361" sldId="259"/>
            <ac:spMk id="2" creationId="{429367A2-FF46-E96F-53A0-B23E56CB2E9F}"/>
          </ac:spMkLst>
        </pc:spChg>
        <pc:spChg chg="mod">
          <ac:chgData name="bvsramaprasad1969@outlook.com" userId="6c8b891cdfe500c4" providerId="LiveId" clId="{C9F1D970-2595-4551-8964-E8241545438C}" dt="2024-07-14T09:45:42.989" v="390"/>
          <ac:spMkLst>
            <pc:docMk/>
            <pc:sldMk cId="1647536361" sldId="259"/>
            <ac:spMk id="3" creationId="{48DD710B-93F9-17AE-EF06-DCB979A2F0A5}"/>
          </ac:spMkLst>
        </pc:spChg>
      </pc:sldChg>
      <pc:sldChg chg="modSp mod">
        <pc:chgData name="bvsramaprasad1969@outlook.com" userId="6c8b891cdfe500c4" providerId="LiveId" clId="{C9F1D970-2595-4551-8964-E8241545438C}" dt="2024-07-14T05:20:17.036" v="25" actId="27636"/>
        <pc:sldMkLst>
          <pc:docMk/>
          <pc:sldMk cId="176532604" sldId="260"/>
        </pc:sldMkLst>
        <pc:spChg chg="mod">
          <ac:chgData name="bvsramaprasad1969@outlook.com" userId="6c8b891cdfe500c4" providerId="LiveId" clId="{C9F1D970-2595-4551-8964-E8241545438C}" dt="2024-07-14T05:20:17.036" v="25" actId="27636"/>
          <ac:spMkLst>
            <pc:docMk/>
            <pc:sldMk cId="176532604" sldId="260"/>
            <ac:spMk id="2" creationId="{23BA7A11-239C-7A9C-97DD-10A5CFCD07A3}"/>
          </ac:spMkLst>
        </pc:spChg>
      </pc:sldChg>
      <pc:sldChg chg="modSp mod">
        <pc:chgData name="bvsramaprasad1969@outlook.com" userId="6c8b891cdfe500c4" providerId="LiveId" clId="{C9F1D970-2595-4551-8964-E8241545438C}" dt="2024-07-14T09:45:42.989" v="390"/>
        <pc:sldMkLst>
          <pc:docMk/>
          <pc:sldMk cId="3400151087" sldId="261"/>
        </pc:sldMkLst>
        <pc:spChg chg="mod">
          <ac:chgData name="bvsramaprasad1969@outlook.com" userId="6c8b891cdfe500c4" providerId="LiveId" clId="{C9F1D970-2595-4551-8964-E8241545438C}" dt="2024-07-14T09:17:39.835" v="96" actId="27636"/>
          <ac:spMkLst>
            <pc:docMk/>
            <pc:sldMk cId="3400151087" sldId="261"/>
            <ac:spMk id="2" creationId="{D0320C66-572A-23AE-F302-D50E03F3A350}"/>
          </ac:spMkLst>
        </pc:spChg>
        <pc:spChg chg="mod">
          <ac:chgData name="bvsramaprasad1969@outlook.com" userId="6c8b891cdfe500c4" providerId="LiveId" clId="{C9F1D970-2595-4551-8964-E8241545438C}" dt="2024-07-14T09:45:42.989" v="390"/>
          <ac:spMkLst>
            <pc:docMk/>
            <pc:sldMk cId="3400151087" sldId="261"/>
            <ac:spMk id="3" creationId="{0848A88B-3FBD-684C-98B5-805ACD6F33FF}"/>
          </ac:spMkLst>
        </pc:spChg>
      </pc:sldChg>
      <pc:sldChg chg="modSp mod">
        <pc:chgData name="bvsramaprasad1969@outlook.com" userId="6c8b891cdfe500c4" providerId="LiveId" clId="{C9F1D970-2595-4551-8964-E8241545438C}" dt="2024-07-14T09:17:39.866" v="99" actId="27636"/>
        <pc:sldMkLst>
          <pc:docMk/>
          <pc:sldMk cId="2303894538" sldId="263"/>
        </pc:sldMkLst>
        <pc:spChg chg="mod">
          <ac:chgData name="bvsramaprasad1969@outlook.com" userId="6c8b891cdfe500c4" providerId="LiveId" clId="{C9F1D970-2595-4551-8964-E8241545438C}" dt="2024-07-14T09:17:39.850" v="98" actId="27636"/>
          <ac:spMkLst>
            <pc:docMk/>
            <pc:sldMk cId="2303894538" sldId="263"/>
            <ac:spMk id="2" creationId="{710119B5-D45D-E302-1830-D7A131F407CC}"/>
          </ac:spMkLst>
        </pc:spChg>
        <pc:spChg chg="mod">
          <ac:chgData name="bvsramaprasad1969@outlook.com" userId="6c8b891cdfe500c4" providerId="LiveId" clId="{C9F1D970-2595-4551-8964-E8241545438C}" dt="2024-07-14T09:17:39.866" v="99" actId="27636"/>
          <ac:spMkLst>
            <pc:docMk/>
            <pc:sldMk cId="2303894538" sldId="263"/>
            <ac:spMk id="3" creationId="{90809567-2517-0415-5E7B-25BA6FE4E5B7}"/>
          </ac:spMkLst>
        </pc:spChg>
      </pc:sldChg>
      <pc:sldChg chg="modSp mod">
        <pc:chgData name="bvsramaprasad1969@outlook.com" userId="6c8b891cdfe500c4" providerId="LiveId" clId="{C9F1D970-2595-4551-8964-E8241545438C}" dt="2024-07-14T09:45:42.989" v="390"/>
        <pc:sldMkLst>
          <pc:docMk/>
          <pc:sldMk cId="3319211405" sldId="265"/>
        </pc:sldMkLst>
        <pc:spChg chg="mod">
          <ac:chgData name="bvsramaprasad1969@outlook.com" userId="6c8b891cdfe500c4" providerId="LiveId" clId="{C9F1D970-2595-4551-8964-E8241545438C}" dt="2024-07-14T09:45:42.989" v="390"/>
          <ac:spMkLst>
            <pc:docMk/>
            <pc:sldMk cId="3319211405" sldId="265"/>
            <ac:spMk id="2" creationId="{9CC1F341-FDFB-8ED3-62E9-CFCF683B39D8}"/>
          </ac:spMkLst>
        </pc:spChg>
        <pc:picChg chg="mod">
          <ac:chgData name="bvsramaprasad1969@outlook.com" userId="6c8b891cdfe500c4" providerId="LiveId" clId="{C9F1D970-2595-4551-8964-E8241545438C}" dt="2024-07-14T09:18:08.769" v="105" actId="14100"/>
          <ac:picMkLst>
            <pc:docMk/>
            <pc:sldMk cId="3319211405" sldId="265"/>
            <ac:picMk id="5" creationId="{35A06BF0-97C7-6599-6DC7-9AF8CB09342D}"/>
          </ac:picMkLst>
        </pc:picChg>
        <pc:picChg chg="mod">
          <ac:chgData name="bvsramaprasad1969@outlook.com" userId="6c8b891cdfe500c4" providerId="LiveId" clId="{C9F1D970-2595-4551-8964-E8241545438C}" dt="2024-07-14T09:18:24.403" v="109" actId="1036"/>
          <ac:picMkLst>
            <pc:docMk/>
            <pc:sldMk cId="3319211405" sldId="265"/>
            <ac:picMk id="6" creationId="{D9F93D28-CD7D-B859-25DA-A02AD167F8E9}"/>
          </ac:picMkLst>
        </pc:picChg>
      </pc:sldChg>
      <pc:sldChg chg="modSp mod ord">
        <pc:chgData name="bvsramaprasad1969@outlook.com" userId="6c8b891cdfe500c4" providerId="LiveId" clId="{C9F1D970-2595-4551-8964-E8241545438C}" dt="2024-07-14T09:29:47.990" v="304" actId="20578"/>
        <pc:sldMkLst>
          <pc:docMk/>
          <pc:sldMk cId="3002806710" sldId="267"/>
        </pc:sldMkLst>
        <pc:picChg chg="mod">
          <ac:chgData name="bvsramaprasad1969@outlook.com" userId="6c8b891cdfe500c4" providerId="LiveId" clId="{C9F1D970-2595-4551-8964-E8241545438C}" dt="2024-07-14T09:18:49.476" v="116" actId="14100"/>
          <ac:picMkLst>
            <pc:docMk/>
            <pc:sldMk cId="3002806710" sldId="267"/>
            <ac:picMk id="10" creationId="{3CC0B283-5C40-B209-3317-89FE85ED72E2}"/>
          </ac:picMkLst>
        </pc:picChg>
        <pc:picChg chg="mod">
          <ac:chgData name="bvsramaprasad1969@outlook.com" userId="6c8b891cdfe500c4" providerId="LiveId" clId="{C9F1D970-2595-4551-8964-E8241545438C}" dt="2024-07-14T09:18:38.668" v="113" actId="14100"/>
          <ac:picMkLst>
            <pc:docMk/>
            <pc:sldMk cId="3002806710" sldId="267"/>
            <ac:picMk id="12" creationId="{F71A36F8-B7D9-1A4F-D013-9F1E6AD7F43E}"/>
          </ac:picMkLst>
        </pc:picChg>
      </pc:sldChg>
      <pc:sldChg chg="modSp mod">
        <pc:chgData name="bvsramaprasad1969@outlook.com" userId="6c8b891cdfe500c4" providerId="LiveId" clId="{C9F1D970-2595-4551-8964-E8241545438C}" dt="2024-07-14T17:08:49.203" v="645"/>
        <pc:sldMkLst>
          <pc:docMk/>
          <pc:sldMk cId="4036951687" sldId="270"/>
        </pc:sldMkLst>
        <pc:spChg chg="mod">
          <ac:chgData name="bvsramaprasad1969@outlook.com" userId="6c8b891cdfe500c4" providerId="LiveId" clId="{C9F1D970-2595-4551-8964-E8241545438C}" dt="2024-07-14T17:08:49.203" v="645"/>
          <ac:spMkLst>
            <pc:docMk/>
            <pc:sldMk cId="4036951687" sldId="270"/>
            <ac:spMk id="3" creationId="{9D1BF900-E311-487C-20EE-BFC03BB1D92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AE7C19-C6BF-4387-A190-962BEEDCEF59}" type="datetimeFigureOut">
              <a:rPr lang="en-IN" smtClean="0"/>
              <a:t>14-07-2024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A2A05B-11FC-4F5F-BA74-082A30F737AA}" type="slidenum">
              <a:rPr lang="en-IN" smtClean="0"/>
              <a:t>‹#›</a:t>
            </a:fld>
            <a:endParaRPr lang="en-IN"/>
          </a:p>
        </p:txBody>
      </p:sp>
    </p:spTree>
    <p:extLst>
      <p:ext uri="{BB962C8B-B14F-4D97-AF65-F5344CB8AC3E}">
        <p14:creationId xmlns:p14="http://schemas.microsoft.com/office/powerpoint/2010/main" val="1927287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7A2A05B-11FC-4F5F-BA74-082A30F737AA}" type="slidenum">
              <a:rPr lang="en-IN" smtClean="0"/>
              <a:t>11</a:t>
            </a:fld>
            <a:endParaRPr lang="en-IN"/>
          </a:p>
        </p:txBody>
      </p:sp>
    </p:spTree>
    <p:extLst>
      <p:ext uri="{BB962C8B-B14F-4D97-AF65-F5344CB8AC3E}">
        <p14:creationId xmlns:p14="http://schemas.microsoft.com/office/powerpoint/2010/main" val="13588016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smtClean="0"/>
              <a:t>7/14/2024</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365922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7/14/2024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48757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7/14/2024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1877171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7/14/2024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53947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7/14/2024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67994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7/14/2024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77647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7/14/2024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031022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7/14/2024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8555777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7/14/2024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58601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7/14/2024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8559675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7/14/2024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7313667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7/14/2024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9856003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7/14/2024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713129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pPr/>
              <a:t>7/14/2024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867073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pPr/>
              <a:t>7/14/2024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267281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7/14/2024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755229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7/14/2024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443645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smtClean="0"/>
              <a:pPr/>
              <a:t>7/14/2024</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842881688"/>
      </p:ext>
    </p:extLst>
  </p:cSld>
  <p:clrMap bg1="dk1" tx1="lt1" bg2="dk2" tx2="lt2" accent1="accent1" accent2="accent2" accent3="accent3" accent4="accent4" accent5="accent5" accent6="accent6" hlink="hlink" folHlink="folHlink"/>
  <p:sldLayoutIdLst>
    <p:sldLayoutId id="2147483950" r:id="rId1"/>
    <p:sldLayoutId id="2147483951" r:id="rId2"/>
    <p:sldLayoutId id="2147483952" r:id="rId3"/>
    <p:sldLayoutId id="2147483953" r:id="rId4"/>
    <p:sldLayoutId id="2147483954" r:id="rId5"/>
    <p:sldLayoutId id="2147483955" r:id="rId6"/>
    <p:sldLayoutId id="2147483956" r:id="rId7"/>
    <p:sldLayoutId id="2147483957" r:id="rId8"/>
    <p:sldLayoutId id="2147483958" r:id="rId9"/>
    <p:sldLayoutId id="2147483959" r:id="rId10"/>
    <p:sldLayoutId id="2147483960" r:id="rId11"/>
    <p:sldLayoutId id="2147483961" r:id="rId12"/>
    <p:sldLayoutId id="2147483962" r:id="rId13"/>
    <p:sldLayoutId id="2147483963" r:id="rId14"/>
    <p:sldLayoutId id="2147483964" r:id="rId15"/>
    <p:sldLayoutId id="2147483965" r:id="rId16"/>
    <p:sldLayoutId id="2147483966" r:id="rId17"/>
  </p:sldLayoutIdLst>
  <p:txStyles>
    <p:titleStyle>
      <a:lvl1pPr algn="l" defTabSz="914400" rtl="0" eaLnBrk="1" latinLnBrk="0" hangingPunct="1">
        <a:lnSpc>
          <a:spcPct val="90000"/>
        </a:lnSpc>
        <a:spcBef>
          <a:spcPct val="0"/>
        </a:spcBef>
        <a:buNone/>
        <a:defRPr sz="3600" kern="1200" cap="all" baseline="0">
          <a:solidFill>
            <a:schemeClr val="tx1"/>
          </a:solidFill>
          <a:effectLst>
            <a:outerShdw blurRad="177800" dist="38100" dir="2700000" algn="tl">
              <a:srgbClr val="000000">
                <a:alpha val="24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effectLst>
            <a:outerShdw blurRad="152400" dist="38100" dir="2700000" algn="tl">
              <a:srgbClr val="000000">
                <a:alpha val="36000"/>
              </a:srgbClr>
            </a:outerShdw>
          </a:effectLst>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effectLst>
            <a:outerShdw blurRad="152400" dist="38100" dir="2700000" algn="tl">
              <a:srgbClr val="000000">
                <a:alpha val="36000"/>
              </a:srgbClr>
            </a:outerShdw>
          </a:effectLst>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effectLst>
            <a:outerShdw blurRad="152400" dist="38100" dir="2700000" algn="tl">
              <a:srgbClr val="000000">
                <a:alpha val="36000"/>
              </a:srgbClr>
            </a:outerShdw>
          </a:effectLst>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52400" dist="38100" dir="2700000" algn="tl">
              <a:srgbClr val="000000">
                <a:alpha val="36000"/>
              </a:srgbClr>
            </a:outerShdw>
          </a:effectLst>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52400" dist="38100" dir="2700000" algn="tl">
              <a:srgbClr val="000000">
                <a:alpha val="36000"/>
              </a:srgbClr>
            </a:outerShdw>
          </a:effectLst>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mailto:devisriprasad1969@gmail.com" TargetMode="External"/><Relationship Id="rId2" Type="http://schemas.openxmlformats.org/officeDocument/2006/relationships/hyperlink" Target="https://www.kaggle.com/datasets/blurredmachine/are-your-employees-burning-out" TargetMode="External"/><Relationship Id="rId1" Type="http://schemas.openxmlformats.org/officeDocument/2006/relationships/slideLayout" Target="../slideLayouts/slideLayout7.xml"/><Relationship Id="rId6" Type="http://schemas.openxmlformats.org/officeDocument/2006/relationships/hyperlink" Target="mailto::sumanththammuluri@gmail.com" TargetMode="External"/><Relationship Id="rId5" Type="http://schemas.openxmlformats.org/officeDocument/2006/relationships/hyperlink" Target="https://github.com/L1e2a3r4n5e6r7/Employee-Burnout-analysis.git" TargetMode="External"/><Relationship Id="rId4" Type="http://schemas.openxmlformats.org/officeDocument/2006/relationships/hyperlink" Target="https://colab.research.google.com/drive/1qFWF33-N53D-8vqN_jhVopT_SUTxB8F0?usp=drive_lin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0555-224A-D8BE-7DD5-7D4D3F12E518}"/>
              </a:ext>
            </a:extLst>
          </p:cNvPr>
          <p:cNvSpPr>
            <a:spLocks noGrp="1"/>
          </p:cNvSpPr>
          <p:nvPr>
            <p:ph type="ctrTitle"/>
          </p:nvPr>
        </p:nvSpPr>
        <p:spPr>
          <a:xfrm>
            <a:off x="1581457" y="353962"/>
            <a:ext cx="8791575" cy="973394"/>
          </a:xfrm>
        </p:spPr>
        <p:txBody>
          <a:bodyPr>
            <a:normAutofit/>
          </a:bodyPr>
          <a:lstStyle/>
          <a:p>
            <a:pPr algn="ctr"/>
            <a:r>
              <a:rPr lang="en-GB" sz="4800" dirty="0">
                <a:latin typeface="Berlin Sans FB" panose="020E0602020502020306" pitchFamily="34" charset="0"/>
              </a:rPr>
              <a:t>Student </a:t>
            </a:r>
            <a:r>
              <a:rPr lang="en-GB" dirty="0">
                <a:latin typeface="Berlin Sans FB" panose="020E0602020502020306" pitchFamily="34" charset="0"/>
              </a:rPr>
              <a:t>Details</a:t>
            </a:r>
            <a:endParaRPr lang="en-IN" dirty="0">
              <a:latin typeface="Berlin Sans FB" panose="020E0602020502020306" pitchFamily="34" charset="0"/>
            </a:endParaRPr>
          </a:p>
        </p:txBody>
      </p:sp>
      <p:sp>
        <p:nvSpPr>
          <p:cNvPr id="3" name="Subtitle 2">
            <a:extLst>
              <a:ext uri="{FF2B5EF4-FFF2-40B4-BE49-F238E27FC236}">
                <a16:creationId xmlns:a16="http://schemas.microsoft.com/office/drawing/2014/main" id="{00FBB077-433A-2E32-4CEE-8C9C4AA714B8}"/>
              </a:ext>
            </a:extLst>
          </p:cNvPr>
          <p:cNvSpPr>
            <a:spLocks noGrp="1"/>
          </p:cNvSpPr>
          <p:nvPr>
            <p:ph type="subTitle" idx="1"/>
          </p:nvPr>
        </p:nvSpPr>
        <p:spPr>
          <a:xfrm>
            <a:off x="1425149" y="1828800"/>
            <a:ext cx="9539835" cy="2797088"/>
          </a:xfrm>
        </p:spPr>
        <p:txBody>
          <a:bodyPr>
            <a:noAutofit/>
          </a:bodyPr>
          <a:lstStyle/>
          <a:p>
            <a:r>
              <a:rPr lang="en-GB" sz="2800" b="1" cap="none" dirty="0">
                <a:solidFill>
                  <a:schemeClr val="tx1"/>
                </a:solidFill>
                <a:latin typeface="Times New Roman" panose="02020603050405020304" pitchFamily="18" charset="0"/>
                <a:cs typeface="Times New Roman" panose="02020603050405020304" pitchFamily="18" charset="0"/>
              </a:rPr>
              <a:t>Name</a:t>
            </a:r>
            <a:r>
              <a:rPr lang="en-GB" sz="2800" cap="none" dirty="0">
                <a:solidFill>
                  <a:schemeClr val="tx1"/>
                </a:solidFill>
                <a:latin typeface="Times New Roman" panose="02020603050405020304" pitchFamily="18" charset="0"/>
                <a:cs typeface="Times New Roman" panose="02020603050405020304" pitchFamily="18" charset="0"/>
              </a:rPr>
              <a:t>: Sai Devi Sri Prasad </a:t>
            </a:r>
            <a:r>
              <a:rPr lang="en-GB" sz="2800" cap="none" dirty="0" err="1">
                <a:solidFill>
                  <a:schemeClr val="tx1"/>
                </a:solidFill>
                <a:latin typeface="Times New Roman" panose="02020603050405020304" pitchFamily="18" charset="0"/>
                <a:cs typeface="Times New Roman" panose="02020603050405020304" pitchFamily="18" charset="0"/>
              </a:rPr>
              <a:t>Adigarla</a:t>
            </a:r>
            <a:endParaRPr lang="en-GB" sz="2800" cap="none" dirty="0">
              <a:solidFill>
                <a:schemeClr val="tx1"/>
              </a:solidFill>
              <a:latin typeface="Times New Roman" panose="02020603050405020304" pitchFamily="18" charset="0"/>
              <a:cs typeface="Times New Roman" panose="02020603050405020304" pitchFamily="18" charset="0"/>
            </a:endParaRPr>
          </a:p>
          <a:p>
            <a:r>
              <a:rPr lang="en-GB" sz="2800" b="1" cap="none" dirty="0">
                <a:solidFill>
                  <a:schemeClr val="tx1"/>
                </a:solidFill>
                <a:latin typeface="Times New Roman" panose="02020603050405020304" pitchFamily="18" charset="0"/>
                <a:cs typeface="Times New Roman" panose="02020603050405020304" pitchFamily="18" charset="0"/>
              </a:rPr>
              <a:t>Skills-build Email id</a:t>
            </a:r>
            <a:r>
              <a:rPr lang="en-GB" sz="2800" cap="none" dirty="0">
                <a:solidFill>
                  <a:schemeClr val="tx1"/>
                </a:solidFill>
                <a:latin typeface="Times New Roman" panose="02020603050405020304" pitchFamily="18" charset="0"/>
                <a:cs typeface="Times New Roman" panose="02020603050405020304" pitchFamily="18" charset="0"/>
              </a:rPr>
              <a:t>: </a:t>
            </a:r>
            <a:r>
              <a:rPr lang="en-GB" sz="2800" cap="none" dirty="0">
                <a:solidFill>
                  <a:srgbClr val="FF0000"/>
                </a:solidFill>
                <a:latin typeface="Times New Roman" panose="02020603050405020304" pitchFamily="18" charset="0"/>
                <a:cs typeface="Times New Roman" panose="02020603050405020304" pitchFamily="18" charset="0"/>
              </a:rPr>
              <a:t>devisriprasad1969@gmail.com</a:t>
            </a:r>
          </a:p>
          <a:p>
            <a:r>
              <a:rPr lang="en-GB" sz="2800" b="1" cap="none" dirty="0">
                <a:solidFill>
                  <a:schemeClr val="tx1"/>
                </a:solidFill>
                <a:latin typeface="Times New Roman" panose="02020603050405020304" pitchFamily="18" charset="0"/>
                <a:cs typeface="Times New Roman" panose="02020603050405020304" pitchFamily="18" charset="0"/>
              </a:rPr>
              <a:t>College Name</a:t>
            </a:r>
            <a:r>
              <a:rPr lang="en-GB" sz="2800" cap="none" dirty="0">
                <a:solidFill>
                  <a:schemeClr val="tx1"/>
                </a:solidFill>
                <a:latin typeface="Times New Roman" panose="02020603050405020304" pitchFamily="18" charset="0"/>
                <a:cs typeface="Times New Roman" panose="02020603050405020304" pitchFamily="18" charset="0"/>
              </a:rPr>
              <a:t>: Sir C R Reddy College Of Engineering</a:t>
            </a:r>
          </a:p>
          <a:p>
            <a:r>
              <a:rPr lang="en-GB" sz="2800" b="1" cap="none" dirty="0">
                <a:solidFill>
                  <a:schemeClr val="tx1"/>
                </a:solidFill>
                <a:latin typeface="Times New Roman" panose="02020603050405020304" pitchFamily="18" charset="0"/>
                <a:cs typeface="Times New Roman" panose="02020603050405020304" pitchFamily="18" charset="0"/>
              </a:rPr>
              <a:t>College State</a:t>
            </a:r>
            <a:r>
              <a:rPr lang="en-GB" sz="2800" cap="none" dirty="0">
                <a:solidFill>
                  <a:schemeClr val="tx1"/>
                </a:solidFill>
                <a:latin typeface="Times New Roman" panose="02020603050405020304" pitchFamily="18" charset="0"/>
                <a:cs typeface="Times New Roman" panose="02020603050405020304" pitchFamily="18" charset="0"/>
              </a:rPr>
              <a:t>: Andhra Pradesh</a:t>
            </a:r>
          </a:p>
          <a:p>
            <a:r>
              <a:rPr lang="en-GB" sz="2800" b="1" cap="none" dirty="0">
                <a:solidFill>
                  <a:schemeClr val="tx1"/>
                </a:solidFill>
                <a:latin typeface="Times New Roman" panose="02020603050405020304" pitchFamily="18" charset="0"/>
                <a:cs typeface="Times New Roman" panose="02020603050405020304" pitchFamily="18" charset="0"/>
              </a:rPr>
              <a:t>Internship Domain</a:t>
            </a:r>
            <a:r>
              <a:rPr lang="en-GB" sz="2800" cap="none" dirty="0">
                <a:solidFill>
                  <a:schemeClr val="tx1"/>
                </a:solidFill>
                <a:latin typeface="Times New Roman" panose="02020603050405020304" pitchFamily="18" charset="0"/>
                <a:cs typeface="Times New Roman" panose="02020603050405020304" pitchFamily="18" charset="0"/>
              </a:rPr>
              <a:t>: AI &amp; ML </a:t>
            </a:r>
          </a:p>
          <a:p>
            <a:r>
              <a:rPr lang="en-GB" sz="2800" b="1" cap="none" dirty="0">
                <a:solidFill>
                  <a:schemeClr val="tx1"/>
                </a:solidFill>
                <a:latin typeface="Times New Roman" panose="02020603050405020304" pitchFamily="18" charset="0"/>
                <a:cs typeface="Times New Roman" panose="02020603050405020304" pitchFamily="18" charset="0"/>
              </a:rPr>
              <a:t>Internship start &amp; end date : </a:t>
            </a:r>
            <a:r>
              <a:rPr lang="en-GB" sz="2800" cap="none" dirty="0">
                <a:solidFill>
                  <a:schemeClr val="tx1"/>
                </a:solidFill>
                <a:latin typeface="Times New Roman" panose="02020603050405020304" pitchFamily="18" charset="0"/>
                <a:cs typeface="Times New Roman" panose="02020603050405020304" pitchFamily="18" charset="0"/>
              </a:rPr>
              <a:t>3</a:t>
            </a:r>
            <a:r>
              <a:rPr lang="en-GB" sz="2800" cap="none" baseline="30000" dirty="0">
                <a:solidFill>
                  <a:schemeClr val="tx1"/>
                </a:solidFill>
                <a:latin typeface="Times New Roman" panose="02020603050405020304" pitchFamily="18" charset="0"/>
                <a:cs typeface="Times New Roman" panose="02020603050405020304" pitchFamily="18" charset="0"/>
              </a:rPr>
              <a:t>rd</a:t>
            </a:r>
            <a:r>
              <a:rPr lang="en-GB" sz="2800" cap="none" dirty="0">
                <a:solidFill>
                  <a:schemeClr val="tx1"/>
                </a:solidFill>
                <a:latin typeface="Times New Roman" panose="02020603050405020304" pitchFamily="18" charset="0"/>
                <a:cs typeface="Times New Roman" panose="02020603050405020304" pitchFamily="18" charset="0"/>
              </a:rPr>
              <a:t> June to 15</a:t>
            </a:r>
            <a:r>
              <a:rPr lang="en-GB" sz="2800" cap="none" baseline="30000" dirty="0">
                <a:solidFill>
                  <a:schemeClr val="tx1"/>
                </a:solidFill>
                <a:latin typeface="Times New Roman" panose="02020603050405020304" pitchFamily="18" charset="0"/>
                <a:cs typeface="Times New Roman" panose="02020603050405020304" pitchFamily="18" charset="0"/>
              </a:rPr>
              <a:t>th</a:t>
            </a:r>
            <a:r>
              <a:rPr lang="en-GB" sz="2800" cap="none" dirty="0">
                <a:solidFill>
                  <a:schemeClr val="tx1"/>
                </a:solidFill>
                <a:latin typeface="Times New Roman" panose="02020603050405020304" pitchFamily="18" charset="0"/>
                <a:cs typeface="Times New Roman" panose="02020603050405020304" pitchFamily="18" charset="0"/>
              </a:rPr>
              <a:t> July</a:t>
            </a:r>
          </a:p>
          <a:p>
            <a:r>
              <a:rPr lang="en-IN" sz="2800" dirty="0"/>
              <a:t> </a:t>
            </a:r>
          </a:p>
        </p:txBody>
      </p:sp>
      <p:pic>
        <p:nvPicPr>
          <p:cNvPr id="7" name="Picture 6">
            <a:extLst>
              <a:ext uri="{FF2B5EF4-FFF2-40B4-BE49-F238E27FC236}">
                <a16:creationId xmlns:a16="http://schemas.microsoft.com/office/drawing/2014/main" id="{728D5404-FD76-48A9-B6C6-D24026DC93EC}"/>
              </a:ext>
            </a:extLst>
          </p:cNvPr>
          <p:cNvPicPr>
            <a:picLocks noChangeAspect="1"/>
          </p:cNvPicPr>
          <p:nvPr/>
        </p:nvPicPr>
        <p:blipFill>
          <a:blip r:embed="rId2"/>
          <a:stretch>
            <a:fillRect/>
          </a:stretch>
        </p:blipFill>
        <p:spPr>
          <a:xfrm>
            <a:off x="9993271" y="1917373"/>
            <a:ext cx="1811867" cy="2339971"/>
          </a:xfrm>
          <a:prstGeom prst="rect">
            <a:avLst/>
          </a:prstGeom>
        </p:spPr>
      </p:pic>
    </p:spTree>
    <p:extLst>
      <p:ext uri="{BB962C8B-B14F-4D97-AF65-F5344CB8AC3E}">
        <p14:creationId xmlns:p14="http://schemas.microsoft.com/office/powerpoint/2010/main" val="17092586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1E5D5-4B32-5987-2B43-3E745C9C6D71}"/>
              </a:ext>
            </a:extLst>
          </p:cNvPr>
          <p:cNvSpPr>
            <a:spLocks noGrp="1"/>
          </p:cNvSpPr>
          <p:nvPr>
            <p:ph type="title"/>
          </p:nvPr>
        </p:nvSpPr>
        <p:spPr>
          <a:xfrm>
            <a:off x="846445" y="874157"/>
            <a:ext cx="10726122" cy="669508"/>
          </a:xfrm>
        </p:spPr>
        <p:txBody>
          <a:bodyPr>
            <a:normAutofit fontScale="90000"/>
          </a:bodyPr>
          <a:lstStyle/>
          <a:p>
            <a:r>
              <a:rPr lang="en-GB" dirty="0">
                <a:latin typeface="Berlin Sans FB" panose="020E0602020502020306" pitchFamily="34" charset="0"/>
                <a:ea typeface="+mj-lt"/>
                <a:cs typeface="+mj-lt"/>
              </a:rPr>
              <a:t>Problem Statement: Employee Burnout Prediction</a:t>
            </a:r>
            <a:endParaRPr lang="en-IN" dirty="0">
              <a:latin typeface="Berlin Sans FB" panose="020E0602020502020306" pitchFamily="34" charset="0"/>
            </a:endParaRPr>
          </a:p>
        </p:txBody>
      </p:sp>
      <p:sp>
        <p:nvSpPr>
          <p:cNvPr id="3" name="Content Placeholder 2">
            <a:extLst>
              <a:ext uri="{FF2B5EF4-FFF2-40B4-BE49-F238E27FC236}">
                <a16:creationId xmlns:a16="http://schemas.microsoft.com/office/drawing/2014/main" id="{72E2B49E-C0C2-9AD0-30E4-18EDAD1E7A79}"/>
              </a:ext>
            </a:extLst>
          </p:cNvPr>
          <p:cNvSpPr>
            <a:spLocks noGrp="1"/>
          </p:cNvSpPr>
          <p:nvPr>
            <p:ph idx="1"/>
          </p:nvPr>
        </p:nvSpPr>
        <p:spPr>
          <a:xfrm>
            <a:off x="1143000" y="2084438"/>
            <a:ext cx="9905999" cy="3824749"/>
          </a:xfrm>
        </p:spPr>
        <p:txBody>
          <a:bodyPr/>
          <a:lstStyle/>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Predicting Employee Burnout Using Linear Regression</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In Today’s workplaces, Employee Burnout is a serious issue that has an impact on overall organizational health, Employee satisfaction, and productivity . Reduced performance, higher turnover rates, and higher absenteeism are all possible outcomes of burnout . Organizations can better support their employees and preserve a healthy work environment by identifying and mitigating burnout early on.</a:t>
            </a:r>
          </a:p>
          <a:p>
            <a:endParaRPr lang="en-IN" dirty="0"/>
          </a:p>
        </p:txBody>
      </p:sp>
    </p:spTree>
    <p:extLst>
      <p:ext uri="{BB962C8B-B14F-4D97-AF65-F5344CB8AC3E}">
        <p14:creationId xmlns:p14="http://schemas.microsoft.com/office/powerpoint/2010/main" val="742738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4E2CC-F992-F46C-BC3E-1BB735CBAD28}"/>
              </a:ext>
            </a:extLst>
          </p:cNvPr>
          <p:cNvSpPr>
            <a:spLocks noGrp="1"/>
          </p:cNvSpPr>
          <p:nvPr>
            <p:ph type="title"/>
          </p:nvPr>
        </p:nvSpPr>
        <p:spPr>
          <a:xfrm>
            <a:off x="1141413" y="756625"/>
            <a:ext cx="11188239" cy="561353"/>
          </a:xfrm>
        </p:spPr>
        <p:txBody>
          <a:bodyPr>
            <a:normAutofit fontScale="90000"/>
          </a:bodyPr>
          <a:lstStyle/>
          <a:p>
            <a:r>
              <a:rPr lang="en-US" sz="3600" dirty="0">
                <a:latin typeface="Berlin Sans FB" panose="020E0602020502020306" pitchFamily="34" charset="0"/>
              </a:rPr>
              <a:t>Project Agenda: Employee Burnout Prediction</a:t>
            </a:r>
            <a:endParaRPr lang="en-IN" dirty="0">
              <a:latin typeface="Berlin Sans FB" panose="020E0602020502020306" pitchFamily="34" charset="0"/>
            </a:endParaRPr>
          </a:p>
        </p:txBody>
      </p:sp>
      <p:sp>
        <p:nvSpPr>
          <p:cNvPr id="3" name="Content Placeholder 2">
            <a:extLst>
              <a:ext uri="{FF2B5EF4-FFF2-40B4-BE49-F238E27FC236}">
                <a16:creationId xmlns:a16="http://schemas.microsoft.com/office/drawing/2014/main" id="{A13CD398-B2FF-02E8-4421-440ACBD97C2B}"/>
              </a:ext>
            </a:extLst>
          </p:cNvPr>
          <p:cNvSpPr>
            <a:spLocks noGrp="1"/>
          </p:cNvSpPr>
          <p:nvPr>
            <p:ph idx="1"/>
          </p:nvPr>
        </p:nvSpPr>
        <p:spPr>
          <a:xfrm>
            <a:off x="1141413" y="1524000"/>
            <a:ext cx="9905999" cy="4296698"/>
          </a:xfrm>
        </p:spPr>
        <p:txBody>
          <a:bodyPr>
            <a:normAutofit fontScale="85000" lnSpcReduction="20000"/>
          </a:bodyPr>
          <a:lstStyle/>
          <a:p>
            <a:pPr>
              <a:buFont typeface="Wingdings" panose="05000000000000000000" pitchFamily="2" charset="2"/>
              <a:buChar char="v"/>
            </a:pPr>
            <a:r>
              <a:rPr lang="en-US" dirty="0">
                <a:latin typeface="Times New Roman" panose="02020603050405020304" pitchFamily="18" charset="0"/>
                <a:ea typeface="+mn-lt"/>
                <a:cs typeface="Times New Roman" panose="02020603050405020304" pitchFamily="18" charset="0"/>
              </a:rPr>
              <a:t>Establishing the project's objectives, deliverables, and success criteria, putting together a capable team, and defining its parameters are the first steps. We will then draft a detailed timetable with important milestones. In order to comprehend the dataset's structure, contents, and to spot patterns and anomalies, we will first compile it and perform exploratory data analysis, or EDA. We will handle missing values, outliers, and inconsistencies, scale numerical features, change categorical variables, and engineer new features during the data preprocessing phase. We will choose suitable machine learning algorithms for regression tasks, such as </a:t>
            </a:r>
            <a:r>
              <a:rPr lang="en-US" dirty="0" err="1">
                <a:latin typeface="Times New Roman" panose="02020603050405020304" pitchFamily="18" charset="0"/>
                <a:ea typeface="+mn-lt"/>
                <a:cs typeface="Times New Roman" panose="02020603050405020304" pitchFamily="18" charset="0"/>
              </a:rPr>
              <a:t>XGBoost</a:t>
            </a:r>
            <a:r>
              <a:rPr lang="en-US" dirty="0">
                <a:latin typeface="Times New Roman" panose="02020603050405020304" pitchFamily="18" charset="0"/>
                <a:ea typeface="+mn-lt"/>
                <a:cs typeface="Times New Roman" panose="02020603050405020304" pitchFamily="18" charset="0"/>
              </a:rPr>
              <a:t>, decision trees, random forests, and linear regression, after dividing the data into training and testing sets. The effectiveness of the model will be evaluated using metrics such as RMSE, MAE, and R2 score. The model's performance will then be optimized through hyperparameter tuning. Ultimately, we will examine the model's results to pinpoint the primary reasons behind employee burnout and offer the business practical suggestions for reducing it.</a:t>
            </a:r>
          </a:p>
          <a:p>
            <a:endParaRPr lang="en-IN" dirty="0"/>
          </a:p>
        </p:txBody>
      </p:sp>
    </p:spTree>
    <p:extLst>
      <p:ext uri="{BB962C8B-B14F-4D97-AF65-F5344CB8AC3E}">
        <p14:creationId xmlns:p14="http://schemas.microsoft.com/office/powerpoint/2010/main" val="25424201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367A2-FF46-E96F-53A0-B23E56CB2E9F}"/>
              </a:ext>
            </a:extLst>
          </p:cNvPr>
          <p:cNvSpPr>
            <a:spLocks noGrp="1"/>
          </p:cNvSpPr>
          <p:nvPr>
            <p:ph type="title"/>
          </p:nvPr>
        </p:nvSpPr>
        <p:spPr>
          <a:xfrm>
            <a:off x="1141412" y="530028"/>
            <a:ext cx="10400070" cy="649843"/>
          </a:xfrm>
        </p:spPr>
        <p:txBody>
          <a:bodyPr>
            <a:normAutofit fontScale="90000"/>
          </a:bodyPr>
          <a:lstStyle/>
          <a:p>
            <a:r>
              <a:rPr lang="en-US" dirty="0">
                <a:latin typeface="Berlin Sans FB" panose="020E0602020502020306" pitchFamily="34" charset="0"/>
              </a:rPr>
              <a:t>Project Overview: Employee Burnout Prediction</a:t>
            </a:r>
            <a:endParaRPr lang="en-IN" dirty="0">
              <a:latin typeface="Berlin Sans FB" panose="020E0602020502020306" pitchFamily="34" charset="0"/>
            </a:endParaRPr>
          </a:p>
        </p:txBody>
      </p:sp>
      <p:sp>
        <p:nvSpPr>
          <p:cNvPr id="3" name="Content Placeholder 2">
            <a:extLst>
              <a:ext uri="{FF2B5EF4-FFF2-40B4-BE49-F238E27FC236}">
                <a16:creationId xmlns:a16="http://schemas.microsoft.com/office/drawing/2014/main" id="{48DD710B-93F9-17AE-EF06-DCB979A2F0A5}"/>
              </a:ext>
            </a:extLst>
          </p:cNvPr>
          <p:cNvSpPr>
            <a:spLocks noGrp="1"/>
          </p:cNvSpPr>
          <p:nvPr>
            <p:ph idx="1"/>
          </p:nvPr>
        </p:nvSpPr>
        <p:spPr>
          <a:xfrm>
            <a:off x="1141412" y="1327354"/>
            <a:ext cx="9905999" cy="5270091"/>
          </a:xfrm>
        </p:spPr>
        <p:txBody>
          <a:bodyPr>
            <a:normAutofit fontScale="70000" lnSpcReduction="20000"/>
          </a:bodyPr>
          <a:lstStyle/>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Predictive Modeling</a:t>
            </a:r>
          </a:p>
          <a:p>
            <a:pPr marL="0" indent="0">
              <a:buNone/>
            </a:pPr>
            <a:r>
              <a:rPr lang="en-US" b="1" dirty="0">
                <a:latin typeface="Times New Roman" panose="02020603050405020304" pitchFamily="18" charset="0"/>
                <a:ea typeface="+mn-lt"/>
                <a:cs typeface="Times New Roman" panose="02020603050405020304" pitchFamily="18" charset="0"/>
              </a:rPr>
              <a:t>Objective</a:t>
            </a:r>
            <a:r>
              <a:rPr lang="en-US" dirty="0">
                <a:latin typeface="Times New Roman" panose="02020603050405020304" pitchFamily="18" charset="0"/>
                <a:ea typeface="+mn-lt"/>
                <a:cs typeface="Times New Roman" panose="02020603050405020304" pitchFamily="18" charset="0"/>
              </a:rPr>
              <a:t>: Develop and train machine learning models to predict the burnout rate for each employee.</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Data Insights</a:t>
            </a:r>
          </a:p>
          <a:p>
            <a:pPr marL="0" indent="0">
              <a:buNone/>
            </a:pPr>
            <a:r>
              <a:rPr lang="en-US" b="1" dirty="0">
                <a:latin typeface="Times New Roman" panose="02020603050405020304" pitchFamily="18" charset="0"/>
                <a:ea typeface="+mn-lt"/>
                <a:cs typeface="Times New Roman" panose="02020603050405020304" pitchFamily="18" charset="0"/>
              </a:rPr>
              <a:t>Objective</a:t>
            </a:r>
            <a:r>
              <a:rPr lang="en-US" dirty="0">
                <a:latin typeface="Times New Roman" panose="02020603050405020304" pitchFamily="18" charset="0"/>
                <a:ea typeface="+mn-lt"/>
                <a:cs typeface="Times New Roman" panose="02020603050405020304" pitchFamily="18" charset="0"/>
              </a:rPr>
              <a:t>: Analyze the data to uncover key factors contributing to employee burnout.</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Actionable Recommendations</a:t>
            </a:r>
          </a:p>
          <a:p>
            <a:pPr marL="0" indent="0">
              <a:buNone/>
            </a:pPr>
            <a:r>
              <a:rPr lang="en-US" b="1" dirty="0">
                <a:latin typeface="Times New Roman" panose="02020603050405020304" pitchFamily="18" charset="0"/>
                <a:ea typeface="+mn-lt"/>
                <a:cs typeface="Times New Roman" panose="02020603050405020304" pitchFamily="18" charset="0"/>
              </a:rPr>
              <a:t>Objective</a:t>
            </a:r>
            <a:r>
              <a:rPr lang="en-US" dirty="0">
                <a:latin typeface="Times New Roman" panose="02020603050405020304" pitchFamily="18" charset="0"/>
                <a:ea typeface="+mn-lt"/>
                <a:cs typeface="Times New Roman" panose="02020603050405020304" pitchFamily="18" charset="0"/>
              </a:rPr>
              <a:t>: Provide insights and recommendations for organizations to effectively mitigate employee burnout.</a:t>
            </a:r>
          </a:p>
          <a:p>
            <a:pPr marL="0" indent="0">
              <a:buNone/>
            </a:pPr>
            <a:r>
              <a:rPr lang="en-US" dirty="0">
                <a:latin typeface="Times New Roman" panose="02020603050405020304" pitchFamily="18" charset="0"/>
                <a:ea typeface="+mn-lt"/>
                <a:cs typeface="Times New Roman" panose="02020603050405020304" pitchFamily="18" charset="0"/>
              </a:rPr>
              <a:t>Project Steps</a:t>
            </a:r>
          </a:p>
          <a:p>
            <a:pPr marL="0" indent="0">
              <a:buNone/>
            </a:pPr>
            <a:r>
              <a:rPr lang="en-US" dirty="0">
                <a:latin typeface="Times New Roman" panose="02020603050405020304" pitchFamily="18" charset="0"/>
                <a:ea typeface="+mn-lt"/>
                <a:cs typeface="Times New Roman" panose="02020603050405020304" pitchFamily="18" charset="0"/>
              </a:rPr>
              <a:t>Data Understanding and Exploration.</a:t>
            </a:r>
          </a:p>
          <a:p>
            <a:pPr marL="0" indent="0">
              <a:buNone/>
            </a:pPr>
            <a:r>
              <a:rPr lang="en-US" dirty="0">
                <a:latin typeface="Times New Roman" panose="02020603050405020304" pitchFamily="18" charset="0"/>
                <a:ea typeface="+mn-lt"/>
                <a:cs typeface="Times New Roman" panose="02020603050405020304" pitchFamily="18" charset="0"/>
              </a:rPr>
              <a:t>Data Preprocessing.</a:t>
            </a:r>
          </a:p>
          <a:p>
            <a:pPr marL="0" indent="0">
              <a:buNone/>
            </a:pPr>
            <a:r>
              <a:rPr lang="en-US" dirty="0">
                <a:latin typeface="Times New Roman" panose="02020603050405020304" pitchFamily="18" charset="0"/>
                <a:ea typeface="+mn-lt"/>
                <a:cs typeface="Times New Roman" panose="02020603050405020304" pitchFamily="18" charset="0"/>
              </a:rPr>
              <a:t>Model Development.</a:t>
            </a:r>
          </a:p>
          <a:p>
            <a:pPr marL="0" indent="0">
              <a:buNone/>
            </a:pPr>
            <a:r>
              <a:rPr lang="en-US" dirty="0">
                <a:latin typeface="Times New Roman" panose="02020603050405020304" pitchFamily="18" charset="0"/>
                <a:ea typeface="+mn-lt"/>
                <a:cs typeface="Times New Roman" panose="02020603050405020304" pitchFamily="18" charset="0"/>
              </a:rPr>
              <a:t>Model Evaluation and Insights.</a:t>
            </a:r>
          </a:p>
          <a:p>
            <a:pPr marL="0" indent="0">
              <a:buNone/>
            </a:pPr>
            <a:r>
              <a:rPr lang="en-US" dirty="0">
                <a:latin typeface="Times New Roman" panose="02020603050405020304" pitchFamily="18" charset="0"/>
                <a:ea typeface="+mn-lt"/>
                <a:cs typeface="Times New Roman" panose="02020603050405020304" pitchFamily="18" charset="0"/>
              </a:rPr>
              <a:t>Model Evaluation and Insights</a:t>
            </a:r>
            <a:endParaRPr lang="en-IN" dirty="0"/>
          </a:p>
        </p:txBody>
      </p:sp>
    </p:spTree>
    <p:extLst>
      <p:ext uri="{BB962C8B-B14F-4D97-AF65-F5344CB8AC3E}">
        <p14:creationId xmlns:p14="http://schemas.microsoft.com/office/powerpoint/2010/main" val="16475363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A7A11-239C-7A9C-97DD-10A5CFCD07A3}"/>
              </a:ext>
            </a:extLst>
          </p:cNvPr>
          <p:cNvSpPr>
            <a:spLocks noGrp="1"/>
          </p:cNvSpPr>
          <p:nvPr>
            <p:ph type="title"/>
          </p:nvPr>
        </p:nvSpPr>
        <p:spPr>
          <a:xfrm>
            <a:off x="1141413" y="618518"/>
            <a:ext cx="9905998" cy="757998"/>
          </a:xfrm>
        </p:spPr>
        <p:txBody>
          <a:bodyPr>
            <a:normAutofit/>
          </a:bodyPr>
          <a:lstStyle/>
          <a:p>
            <a:r>
              <a:rPr lang="en-US" sz="3600" dirty="0">
                <a:latin typeface="Berlin Sans FB" panose="020E0602020502020306" pitchFamily="34" charset="0"/>
              </a:rPr>
              <a:t>WHO ARE THE END USERS of this project?</a:t>
            </a:r>
            <a:endParaRPr lang="en-IN" dirty="0">
              <a:latin typeface="Berlin Sans FB" panose="020E0602020502020306" pitchFamily="34" charset="0"/>
            </a:endParaRPr>
          </a:p>
        </p:txBody>
      </p:sp>
      <p:sp>
        <p:nvSpPr>
          <p:cNvPr id="3" name="Content Placeholder 2">
            <a:extLst>
              <a:ext uri="{FF2B5EF4-FFF2-40B4-BE49-F238E27FC236}">
                <a16:creationId xmlns:a16="http://schemas.microsoft.com/office/drawing/2014/main" id="{9BFB8ABF-DC74-F4DF-33D1-250BAAC27BAD}"/>
              </a:ext>
            </a:extLst>
          </p:cNvPr>
          <p:cNvSpPr>
            <a:spLocks noGrp="1"/>
          </p:cNvSpPr>
          <p:nvPr>
            <p:ph idx="1"/>
          </p:nvPr>
        </p:nvSpPr>
        <p:spPr>
          <a:xfrm>
            <a:off x="1141412" y="1602658"/>
            <a:ext cx="9905999" cy="4188543"/>
          </a:xfrm>
        </p:spPr>
        <p:txBody>
          <a:bodyPr/>
          <a:lstStyle/>
          <a:p>
            <a:pPr marL="305435" indent="-305435"/>
            <a:r>
              <a:rPr lang="en-US">
                <a:latin typeface="Times New Roman" panose="02020603050405020304" pitchFamily="18" charset="0"/>
                <a:ea typeface="+mn-lt"/>
                <a:cs typeface="Times New Roman" panose="02020603050405020304" pitchFamily="18" charset="0"/>
              </a:rPr>
              <a:t>Employees</a:t>
            </a:r>
          </a:p>
          <a:p>
            <a:pPr marL="305435" indent="-305435"/>
            <a:r>
              <a:rPr lang="en-US">
                <a:latin typeface="Times New Roman" panose="02020603050405020304" pitchFamily="18" charset="0"/>
                <a:ea typeface="+mn-lt"/>
                <a:cs typeface="Times New Roman" panose="02020603050405020304" pitchFamily="18" charset="0"/>
              </a:rPr>
              <a:t>Management and Leadership</a:t>
            </a:r>
          </a:p>
          <a:p>
            <a:pPr marL="305435" indent="-305435"/>
            <a:r>
              <a:rPr lang="en-US">
                <a:latin typeface="Times New Roman" panose="02020603050405020304" pitchFamily="18" charset="0"/>
                <a:ea typeface="+mn-lt"/>
                <a:cs typeface="Times New Roman" panose="02020603050405020304" pitchFamily="18" charset="0"/>
              </a:rPr>
              <a:t>Human Resources (HR) Teams</a:t>
            </a:r>
            <a:endParaRPr lang="en-US">
              <a:latin typeface="Times New Roman" panose="02020603050405020304" pitchFamily="18" charset="0"/>
              <a:cs typeface="Times New Roman" panose="02020603050405020304" pitchFamily="18" charset="0"/>
            </a:endParaRPr>
          </a:p>
          <a:p>
            <a:pPr marL="305435" indent="-305435"/>
            <a:r>
              <a:rPr lang="en-US">
                <a:latin typeface="Times New Roman" panose="02020603050405020304" pitchFamily="18" charset="0"/>
                <a:ea typeface="+mn-lt"/>
                <a:cs typeface="Times New Roman" panose="02020603050405020304" pitchFamily="18" charset="0"/>
              </a:rPr>
              <a:t>Data Analysts and Researchers</a:t>
            </a:r>
          </a:p>
          <a:p>
            <a:pPr marL="305435" indent="-305435"/>
            <a:r>
              <a:rPr lang="en-US">
                <a:latin typeface="Times New Roman" panose="02020603050405020304" pitchFamily="18" charset="0"/>
                <a:ea typeface="+mn-lt"/>
                <a:cs typeface="Times New Roman" panose="02020603050405020304" pitchFamily="18" charset="0"/>
              </a:rPr>
              <a:t>Occupational Health and Safety (OHS) Officers</a:t>
            </a:r>
            <a:endParaRPr lang="en-US" dirty="0">
              <a:latin typeface="Times New Roman" panose="02020603050405020304" pitchFamily="18" charset="0"/>
              <a:ea typeface="+mn-lt"/>
              <a:cs typeface="Times New Roman" panose="02020603050405020304" pitchFamily="18" charset="0"/>
            </a:endParaRPr>
          </a:p>
        </p:txBody>
      </p:sp>
    </p:spTree>
    <p:extLst>
      <p:ext uri="{BB962C8B-B14F-4D97-AF65-F5344CB8AC3E}">
        <p14:creationId xmlns:p14="http://schemas.microsoft.com/office/powerpoint/2010/main" val="176532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20C66-572A-23AE-F302-D50E03F3A350}"/>
              </a:ext>
            </a:extLst>
          </p:cNvPr>
          <p:cNvSpPr>
            <a:spLocks noGrp="1"/>
          </p:cNvSpPr>
          <p:nvPr>
            <p:ph type="title"/>
          </p:nvPr>
        </p:nvSpPr>
        <p:spPr>
          <a:xfrm>
            <a:off x="1141413" y="618518"/>
            <a:ext cx="9905998" cy="826824"/>
          </a:xfrm>
        </p:spPr>
        <p:txBody>
          <a:bodyPr>
            <a:normAutofit/>
          </a:bodyPr>
          <a:lstStyle/>
          <a:p>
            <a:r>
              <a:rPr lang="en-US" dirty="0">
                <a:latin typeface="Berlin Sans FB" panose="020E0602020502020306" pitchFamily="34" charset="0"/>
              </a:rPr>
              <a:t>SOLUTION</a:t>
            </a:r>
            <a:r>
              <a:rPr lang="en-US" sz="3600" dirty="0">
                <a:latin typeface="Berlin Sans FB" panose="020E0602020502020306" pitchFamily="34" charset="0"/>
              </a:rPr>
              <a:t> AND ITS VALUE PROPOSITION</a:t>
            </a:r>
            <a:endParaRPr lang="en-IN" dirty="0">
              <a:latin typeface="Berlin Sans FB" panose="020E0602020502020306" pitchFamily="34" charset="0"/>
            </a:endParaRPr>
          </a:p>
        </p:txBody>
      </p:sp>
      <p:sp>
        <p:nvSpPr>
          <p:cNvPr id="3" name="Content Placeholder 2">
            <a:extLst>
              <a:ext uri="{FF2B5EF4-FFF2-40B4-BE49-F238E27FC236}">
                <a16:creationId xmlns:a16="http://schemas.microsoft.com/office/drawing/2014/main" id="{0848A88B-3FBD-684C-98B5-805ACD6F33FF}"/>
              </a:ext>
            </a:extLst>
          </p:cNvPr>
          <p:cNvSpPr>
            <a:spLocks noGrp="1"/>
          </p:cNvSpPr>
          <p:nvPr>
            <p:ph idx="1"/>
          </p:nvPr>
        </p:nvSpPr>
        <p:spPr>
          <a:xfrm>
            <a:off x="1141412" y="1337188"/>
            <a:ext cx="9905999" cy="4902294"/>
          </a:xfrm>
        </p:spPr>
        <p:txBody>
          <a:bodyPr>
            <a:normAutofit fontScale="85000" lnSpcReduction="10000"/>
          </a:bodyPr>
          <a:lstStyle/>
          <a:p>
            <a:pPr>
              <a:buNone/>
            </a:pPr>
            <a:r>
              <a:rPr lang="en-US" dirty="0">
                <a:ea typeface="+mn-lt"/>
                <a:cs typeface="+mn-lt"/>
              </a:rPr>
              <a:t>The method entails creating a thorough predictive model to evaluate employee burnout depending on a number of variables, including job characteristics, mental health indicators, and demographics. This model will use cutting-edge machine learning techniques to analyze the dataset and identify important predictors of burnout. The following elements are part of the solution:</a:t>
            </a:r>
          </a:p>
          <a:p>
            <a:pPr>
              <a:buNone/>
            </a:pPr>
            <a:endParaRPr lang="en-US" dirty="0">
              <a:ea typeface="+mn-lt"/>
              <a:cs typeface="+mn-lt"/>
            </a:endParaRPr>
          </a:p>
          <a:p>
            <a:pPr marL="305435" indent="-305435"/>
            <a:r>
              <a:rPr lang="en-US" dirty="0">
                <a:ea typeface="+mn-lt"/>
                <a:cs typeface="+mn-lt"/>
              </a:rPr>
              <a:t>Proactive Burnout Management: Seek out and resolve possible burnout problems before they worsen.</a:t>
            </a:r>
          </a:p>
          <a:p>
            <a:pPr marL="305435" indent="-305435"/>
            <a:r>
              <a:rPr lang="en-US" dirty="0">
                <a:ea typeface="+mn-lt"/>
                <a:cs typeface="+mn-lt"/>
              </a:rPr>
              <a:t>Improved Well-Being of Employees: Encourage a more wholesome and encouraging work atmosphere.</a:t>
            </a:r>
          </a:p>
          <a:p>
            <a:pPr marL="305435" indent="-305435"/>
            <a:r>
              <a:rPr lang="en-US" dirty="0">
                <a:ea typeface="+mn-lt"/>
                <a:cs typeface="+mn-lt"/>
              </a:rPr>
              <a:t>Benefits for the Organization: Improve the culture and performance of the organization.</a:t>
            </a:r>
          </a:p>
          <a:p>
            <a:pPr marL="305435" indent="-305435"/>
            <a:r>
              <a:rPr lang="en-US" dirty="0">
                <a:ea typeface="+mn-lt"/>
                <a:cs typeface="+mn-lt"/>
              </a:rPr>
              <a:t>Data-Driven Decision Making: Make strategic decisions based on data insights.</a:t>
            </a:r>
            <a:endParaRPr lang="en-US" dirty="0"/>
          </a:p>
          <a:p>
            <a:endParaRPr lang="en-IN" dirty="0"/>
          </a:p>
        </p:txBody>
      </p:sp>
    </p:spTree>
    <p:extLst>
      <p:ext uri="{BB962C8B-B14F-4D97-AF65-F5344CB8AC3E}">
        <p14:creationId xmlns:p14="http://schemas.microsoft.com/office/powerpoint/2010/main" val="34001510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C87C8-4507-42D9-B2B2-F777F0922695}"/>
              </a:ext>
            </a:extLst>
          </p:cNvPr>
          <p:cNvSpPr>
            <a:spLocks noGrp="1"/>
          </p:cNvSpPr>
          <p:nvPr>
            <p:ph type="title"/>
          </p:nvPr>
        </p:nvSpPr>
        <p:spPr>
          <a:xfrm>
            <a:off x="1141413" y="618518"/>
            <a:ext cx="9905998" cy="1052966"/>
          </a:xfrm>
        </p:spPr>
        <p:txBody>
          <a:bodyPr>
            <a:normAutofit fontScale="90000"/>
          </a:bodyPr>
          <a:lstStyle/>
          <a:p>
            <a:r>
              <a:rPr lang="en-US" dirty="0">
                <a:latin typeface="Berlin Sans FB" panose="020E0602020502020306" pitchFamily="34" charset="0"/>
                <a:ea typeface="+mj-lt"/>
                <a:cs typeface="+mj-lt"/>
              </a:rPr>
              <a:t>Customization and Personalization of the Employee Burnout Prediction Project</a:t>
            </a:r>
            <a:endParaRPr lang="en-IN" dirty="0">
              <a:latin typeface="Berlin Sans FB" panose="020E0602020502020306" pitchFamily="34" charset="0"/>
            </a:endParaRPr>
          </a:p>
        </p:txBody>
      </p:sp>
      <p:sp>
        <p:nvSpPr>
          <p:cNvPr id="3" name="Content Placeholder 2">
            <a:extLst>
              <a:ext uri="{FF2B5EF4-FFF2-40B4-BE49-F238E27FC236}">
                <a16:creationId xmlns:a16="http://schemas.microsoft.com/office/drawing/2014/main" id="{713A1B50-8287-9954-A6E7-1267E657CFC0}"/>
              </a:ext>
            </a:extLst>
          </p:cNvPr>
          <p:cNvSpPr>
            <a:spLocks noGrp="1"/>
          </p:cNvSpPr>
          <p:nvPr>
            <p:ph idx="1"/>
          </p:nvPr>
        </p:nvSpPr>
        <p:spPr>
          <a:xfrm>
            <a:off x="1141412" y="1740310"/>
            <a:ext cx="9905999" cy="4499172"/>
          </a:xfrm>
        </p:spPr>
        <p:txBody>
          <a:bodyPr/>
          <a:lstStyle/>
          <a:p>
            <a:pPr>
              <a:buFont typeface="Wingdings" panose="05000000000000000000" pitchFamily="2" charset="2"/>
              <a:buChar char="v"/>
            </a:pPr>
            <a:r>
              <a:rPr lang="en-US" dirty="0">
                <a:ea typeface="+mn-lt"/>
                <a:cs typeface="+mn-lt"/>
              </a:rPr>
              <a:t>Comprehensive Knowledge of Context </a:t>
            </a:r>
          </a:p>
          <a:p>
            <a:pPr>
              <a:buFont typeface="Wingdings" panose="05000000000000000000" pitchFamily="2" charset="2"/>
              <a:buChar char="v"/>
            </a:pPr>
            <a:r>
              <a:rPr lang="en-US" dirty="0">
                <a:ea typeface="+mn-lt"/>
                <a:cs typeface="+mn-lt"/>
              </a:rPr>
              <a:t>Advanced Methods for Processing Data </a:t>
            </a:r>
          </a:p>
          <a:p>
            <a:pPr>
              <a:buFont typeface="Wingdings" panose="05000000000000000000" pitchFamily="2" charset="2"/>
              <a:buChar char="v"/>
            </a:pPr>
            <a:r>
              <a:rPr lang="en-US" dirty="0">
                <a:ea typeface="+mn-lt"/>
                <a:cs typeface="+mn-lt"/>
              </a:rPr>
              <a:t>Choosing and Customizing a Model </a:t>
            </a:r>
          </a:p>
          <a:p>
            <a:pPr>
              <a:buFont typeface="Wingdings" panose="05000000000000000000" pitchFamily="2" charset="2"/>
              <a:buChar char="v"/>
            </a:pPr>
            <a:r>
              <a:rPr lang="en-US" dirty="0">
                <a:ea typeface="+mn-lt"/>
                <a:cs typeface="+mn-lt"/>
              </a:rPr>
              <a:t>Including Psychological Aspects </a:t>
            </a:r>
            <a:endParaRPr lang="en-US" dirty="0"/>
          </a:p>
          <a:p>
            <a:pPr>
              <a:buFont typeface="Wingdings" panose="05000000000000000000" pitchFamily="2" charset="2"/>
              <a:buChar char="v"/>
            </a:pPr>
            <a:r>
              <a:rPr lang="en-US" dirty="0">
                <a:ea typeface="+mn-lt"/>
                <a:cs typeface="+mn-lt"/>
              </a:rPr>
              <a:t>Framework for Continuous Improvement</a:t>
            </a:r>
            <a:endParaRPr lang="en-US" dirty="0"/>
          </a:p>
        </p:txBody>
      </p:sp>
    </p:spTree>
    <p:extLst>
      <p:ext uri="{BB962C8B-B14F-4D97-AF65-F5344CB8AC3E}">
        <p14:creationId xmlns:p14="http://schemas.microsoft.com/office/powerpoint/2010/main" val="1176658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119B5-D45D-E302-1830-D7A131F407CC}"/>
              </a:ext>
            </a:extLst>
          </p:cNvPr>
          <p:cNvSpPr>
            <a:spLocks noGrp="1"/>
          </p:cNvSpPr>
          <p:nvPr>
            <p:ph type="title"/>
          </p:nvPr>
        </p:nvSpPr>
        <p:spPr>
          <a:xfrm>
            <a:off x="1141413" y="618518"/>
            <a:ext cx="9905998" cy="708837"/>
          </a:xfrm>
        </p:spPr>
        <p:txBody>
          <a:bodyPr>
            <a:normAutofit/>
          </a:bodyPr>
          <a:lstStyle/>
          <a:p>
            <a:r>
              <a:rPr lang="en-GB" dirty="0">
                <a:latin typeface="Berlin Sans FB" panose="020E0602020502020306" pitchFamily="34" charset="0"/>
                <a:ea typeface="+mj-lt"/>
                <a:cs typeface="+mj-lt"/>
              </a:rPr>
              <a:t>Modelling with Linear Regression</a:t>
            </a:r>
            <a:endParaRPr lang="en-IN" dirty="0">
              <a:latin typeface="Berlin Sans FB" panose="020E0602020502020306" pitchFamily="34" charset="0"/>
            </a:endParaRPr>
          </a:p>
        </p:txBody>
      </p:sp>
      <p:sp>
        <p:nvSpPr>
          <p:cNvPr id="3" name="Content Placeholder 2">
            <a:extLst>
              <a:ext uri="{FF2B5EF4-FFF2-40B4-BE49-F238E27FC236}">
                <a16:creationId xmlns:a16="http://schemas.microsoft.com/office/drawing/2014/main" id="{90809567-2517-0415-5E7B-25BA6FE4E5B7}"/>
              </a:ext>
            </a:extLst>
          </p:cNvPr>
          <p:cNvSpPr>
            <a:spLocks noGrp="1"/>
          </p:cNvSpPr>
          <p:nvPr>
            <p:ph idx="1"/>
          </p:nvPr>
        </p:nvSpPr>
        <p:spPr>
          <a:xfrm>
            <a:off x="1141412" y="1533832"/>
            <a:ext cx="9905999" cy="4857136"/>
          </a:xfrm>
        </p:spPr>
        <p:txBody>
          <a:bodyPr>
            <a:normAutofit fontScale="85000" lnSpcReduction="20000"/>
          </a:bodyPr>
          <a:lstStyle/>
          <a:p>
            <a:pPr>
              <a:buFont typeface="Wingdings" panose="05000000000000000000" pitchFamily="2" charset="2"/>
              <a:buChar char="v"/>
            </a:pPr>
            <a:r>
              <a:rPr lang="en-US" sz="2400" b="1" dirty="0">
                <a:ea typeface="+mn-lt"/>
                <a:cs typeface="+mn-lt"/>
              </a:rPr>
              <a:t>Getting Ready for Data </a:t>
            </a:r>
            <a:endParaRPr lang="en-US" sz="2400" b="1" dirty="0"/>
          </a:p>
          <a:p>
            <a:pPr marL="0" indent="0">
              <a:buNone/>
            </a:pPr>
            <a:r>
              <a:rPr lang="en-US" sz="2400" dirty="0">
                <a:ea typeface="+mn-lt"/>
                <a:cs typeface="+mn-lt"/>
              </a:rPr>
              <a:t>Data splitting: Separate the training and testing sets from the dataset. </a:t>
            </a:r>
            <a:endParaRPr lang="en-US" sz="2400" dirty="0"/>
          </a:p>
          <a:p>
            <a:pPr marL="0" indent="0">
              <a:buNone/>
            </a:pPr>
            <a:r>
              <a:rPr lang="en-US" sz="2400" dirty="0">
                <a:ea typeface="+mn-lt"/>
                <a:cs typeface="+mn-lt"/>
              </a:rPr>
              <a:t>Feature Scaling: Bringing numerical attributes into uniformity. </a:t>
            </a:r>
            <a:endParaRPr lang="en-US" sz="2400" dirty="0"/>
          </a:p>
          <a:p>
            <a:pPr marL="0" indent="0">
              <a:buNone/>
            </a:pPr>
            <a:r>
              <a:rPr lang="en-US" sz="2400" dirty="0">
                <a:ea typeface="+mn-lt"/>
                <a:cs typeface="+mn-lt"/>
              </a:rPr>
              <a:t>Convert categorical variables into a numerical format by encoding them. </a:t>
            </a:r>
            <a:endParaRPr lang="en-US" sz="2400" dirty="0"/>
          </a:p>
          <a:p>
            <a:pPr>
              <a:buFont typeface="Wingdings" panose="05000000000000000000" pitchFamily="2" charset="2"/>
              <a:buChar char="v"/>
            </a:pPr>
            <a:r>
              <a:rPr lang="en-US" sz="2400" b="1" dirty="0">
                <a:ea typeface="+mn-lt"/>
                <a:cs typeface="+mn-lt"/>
              </a:rPr>
              <a:t> Models of Training </a:t>
            </a:r>
            <a:endParaRPr lang="en-US" sz="2400" b="1" dirty="0"/>
          </a:p>
          <a:p>
            <a:pPr marL="0" indent="0">
              <a:buNone/>
            </a:pPr>
            <a:r>
              <a:rPr lang="en-US" sz="2400" dirty="0">
                <a:ea typeface="+mn-lt"/>
                <a:cs typeface="+mn-lt"/>
              </a:rPr>
              <a:t>Linear Regression Model: Utilizing the training dataset, train the linear regression model. </a:t>
            </a:r>
            <a:endParaRPr lang="en-US" sz="2400" dirty="0"/>
          </a:p>
          <a:p>
            <a:pPr>
              <a:buFont typeface="Wingdings" panose="05000000000000000000" pitchFamily="2" charset="2"/>
              <a:buChar char="v"/>
            </a:pPr>
            <a:r>
              <a:rPr lang="en-US" sz="2400" b="1" dirty="0">
                <a:ea typeface="+mn-lt"/>
                <a:cs typeface="+mn-lt"/>
              </a:rPr>
              <a:t> Evaluation of the Model </a:t>
            </a:r>
            <a:endParaRPr lang="en-US" sz="2400" b="1" dirty="0"/>
          </a:p>
          <a:p>
            <a:pPr marL="0" indent="0">
              <a:buNone/>
            </a:pPr>
            <a:r>
              <a:rPr lang="en-US" sz="2400" dirty="0">
                <a:ea typeface="+mn-lt"/>
                <a:cs typeface="+mn-lt"/>
              </a:rPr>
              <a:t>Performance Metrics: To evaluate the model's performance, use metrics such as RMSE, MAE, and R2 score. </a:t>
            </a:r>
            <a:endParaRPr lang="en-US" sz="2400" dirty="0"/>
          </a:p>
          <a:p>
            <a:pPr>
              <a:buFont typeface="Wingdings" panose="05000000000000000000" pitchFamily="2" charset="2"/>
              <a:buChar char="v"/>
            </a:pPr>
            <a:r>
              <a:rPr lang="en-US" sz="2400" b="1" dirty="0">
                <a:ea typeface="+mn-lt"/>
                <a:cs typeface="+mn-lt"/>
              </a:rPr>
              <a:t> Model Modification </a:t>
            </a:r>
            <a:endParaRPr lang="en-US" sz="2400" b="1" dirty="0"/>
          </a:p>
          <a:p>
            <a:pPr marL="0" indent="0">
              <a:buNone/>
            </a:pPr>
            <a:r>
              <a:rPr lang="en-US" sz="2400" dirty="0">
                <a:ea typeface="+mn-lt"/>
                <a:cs typeface="+mn-lt"/>
              </a:rPr>
              <a:t>Feature Selection: To improve model performance, assess and choose the most crucial features.</a:t>
            </a:r>
          </a:p>
          <a:p>
            <a:pPr marL="342900" indent="-342900">
              <a:buAutoNum type="arabicPeriod"/>
            </a:pPr>
            <a:endParaRPr lang="en-US" sz="2400" dirty="0"/>
          </a:p>
          <a:p>
            <a:endParaRPr lang="en-IN" dirty="0"/>
          </a:p>
        </p:txBody>
      </p:sp>
    </p:spTree>
    <p:extLst>
      <p:ext uri="{BB962C8B-B14F-4D97-AF65-F5344CB8AC3E}">
        <p14:creationId xmlns:p14="http://schemas.microsoft.com/office/powerpoint/2010/main" val="2303894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1F341-FDFB-8ED3-62E9-CFCF683B39D8}"/>
              </a:ext>
            </a:extLst>
          </p:cNvPr>
          <p:cNvSpPr>
            <a:spLocks noGrp="1"/>
          </p:cNvSpPr>
          <p:nvPr>
            <p:ph type="title"/>
          </p:nvPr>
        </p:nvSpPr>
        <p:spPr>
          <a:xfrm>
            <a:off x="1141413" y="618518"/>
            <a:ext cx="9905998" cy="640011"/>
          </a:xfrm>
        </p:spPr>
        <p:txBody>
          <a:bodyPr>
            <a:normAutofit/>
          </a:bodyPr>
          <a:lstStyle/>
          <a:p>
            <a:pPr algn="ctr"/>
            <a:r>
              <a:rPr lang="en-US" dirty="0">
                <a:latin typeface="Berlin Sans FB" panose="020E0602020502020306" pitchFamily="34" charset="0"/>
              </a:rPr>
              <a:t>CODE CUSTOMIZATION</a:t>
            </a:r>
            <a:endParaRPr lang="en-IN" dirty="0">
              <a:latin typeface="Berlin Sans FB" panose="020E0602020502020306" pitchFamily="34" charset="0"/>
            </a:endParaRPr>
          </a:p>
        </p:txBody>
      </p:sp>
      <p:pic>
        <p:nvPicPr>
          <p:cNvPr id="5" name="Content Placeholder 6">
            <a:extLst>
              <a:ext uri="{FF2B5EF4-FFF2-40B4-BE49-F238E27FC236}">
                <a16:creationId xmlns:a16="http://schemas.microsoft.com/office/drawing/2014/main" id="{35A06BF0-97C7-6599-6DC7-9AF8CB09342D}"/>
              </a:ext>
            </a:extLst>
          </p:cNvPr>
          <p:cNvPicPr>
            <a:picLocks noGrp="1" noChangeAspect="1"/>
          </p:cNvPicPr>
          <p:nvPr>
            <p:ph sz="half" idx="1"/>
          </p:nvPr>
        </p:nvPicPr>
        <p:blipFill>
          <a:blip r:embed="rId2"/>
          <a:stretch>
            <a:fillRect/>
          </a:stretch>
        </p:blipFill>
        <p:spPr>
          <a:xfrm>
            <a:off x="836613" y="1803400"/>
            <a:ext cx="5123920" cy="3714253"/>
          </a:xfrm>
          <a:prstGeom prst="rect">
            <a:avLst/>
          </a:prstGeom>
        </p:spPr>
      </p:pic>
      <p:pic>
        <p:nvPicPr>
          <p:cNvPr id="6" name="Content Placeholder 4">
            <a:extLst>
              <a:ext uri="{FF2B5EF4-FFF2-40B4-BE49-F238E27FC236}">
                <a16:creationId xmlns:a16="http://schemas.microsoft.com/office/drawing/2014/main" id="{D9F93D28-CD7D-B859-25DA-A02AD167F8E9}"/>
              </a:ext>
            </a:extLst>
          </p:cNvPr>
          <p:cNvPicPr>
            <a:picLocks noGrp="1" noChangeAspect="1"/>
          </p:cNvPicPr>
          <p:nvPr>
            <p:ph sz="half" idx="2"/>
          </p:nvPr>
        </p:nvPicPr>
        <p:blipFill>
          <a:blip r:embed="rId3"/>
          <a:stretch>
            <a:fillRect/>
          </a:stretch>
        </p:blipFill>
        <p:spPr>
          <a:xfrm>
            <a:off x="6094412" y="1811867"/>
            <a:ext cx="5086880" cy="3714254"/>
          </a:xfrm>
          <a:prstGeom prst="rect">
            <a:avLst/>
          </a:prstGeom>
        </p:spPr>
      </p:pic>
    </p:spTree>
    <p:extLst>
      <p:ext uri="{BB962C8B-B14F-4D97-AF65-F5344CB8AC3E}">
        <p14:creationId xmlns:p14="http://schemas.microsoft.com/office/powerpoint/2010/main" val="33192114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A91CA3D-8CEA-ECA5-53EA-5679200791CA}"/>
              </a:ext>
            </a:extLst>
          </p:cNvPr>
          <p:cNvPicPr>
            <a:picLocks noChangeAspect="1"/>
          </p:cNvPicPr>
          <p:nvPr/>
        </p:nvPicPr>
        <p:blipFill>
          <a:blip r:embed="rId2"/>
          <a:stretch>
            <a:fillRect/>
          </a:stretch>
        </p:blipFill>
        <p:spPr>
          <a:xfrm>
            <a:off x="1229032" y="639096"/>
            <a:ext cx="9969910" cy="6037005"/>
          </a:xfrm>
          <a:prstGeom prst="rect">
            <a:avLst/>
          </a:prstGeom>
        </p:spPr>
      </p:pic>
      <p:sp>
        <p:nvSpPr>
          <p:cNvPr id="5" name="TextBox 4">
            <a:extLst>
              <a:ext uri="{FF2B5EF4-FFF2-40B4-BE49-F238E27FC236}">
                <a16:creationId xmlns:a16="http://schemas.microsoft.com/office/drawing/2014/main" id="{8E2A8139-1161-BC55-0DF9-C63AA8CDA432}"/>
              </a:ext>
            </a:extLst>
          </p:cNvPr>
          <p:cNvSpPr txBox="1"/>
          <p:nvPr/>
        </p:nvSpPr>
        <p:spPr>
          <a:xfrm>
            <a:off x="1229032" y="0"/>
            <a:ext cx="3559278" cy="584775"/>
          </a:xfrm>
          <a:prstGeom prst="rect">
            <a:avLst/>
          </a:prstGeom>
          <a:noFill/>
        </p:spPr>
        <p:txBody>
          <a:bodyPr wrap="square" rtlCol="0">
            <a:spAutoFit/>
          </a:bodyPr>
          <a:lstStyle/>
          <a:p>
            <a:r>
              <a:rPr lang="en-US" sz="3200" dirty="0">
                <a:latin typeface="Berlin Sans FB" panose="020E0602020502020306" pitchFamily="34" charset="0"/>
              </a:rPr>
              <a:t>Result</a:t>
            </a:r>
            <a:r>
              <a:rPr lang="en-US" sz="3200" dirty="0">
                <a:latin typeface="Arial Rounded MT Bold" panose="020F0704030504030204" pitchFamily="34" charset="0"/>
              </a:rPr>
              <a:t> :</a:t>
            </a:r>
            <a:endParaRPr lang="en-IN" sz="3200" dirty="0">
              <a:latin typeface="Arial Rounded MT Bold" panose="020F0704030504030204" pitchFamily="34" charset="0"/>
            </a:endParaRPr>
          </a:p>
        </p:txBody>
      </p:sp>
    </p:spTree>
    <p:extLst>
      <p:ext uri="{BB962C8B-B14F-4D97-AF65-F5344CB8AC3E}">
        <p14:creationId xmlns:p14="http://schemas.microsoft.com/office/powerpoint/2010/main" val="3907830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3CC0B283-5C40-B209-3317-89FE85ED72E2}"/>
              </a:ext>
            </a:extLst>
          </p:cNvPr>
          <p:cNvPicPr>
            <a:picLocks noGrp="1" noChangeAspect="1"/>
          </p:cNvPicPr>
          <p:nvPr>
            <p:ph sz="half" idx="1"/>
          </p:nvPr>
        </p:nvPicPr>
        <p:blipFill>
          <a:blip r:embed="rId3"/>
          <a:stretch>
            <a:fillRect/>
          </a:stretch>
        </p:blipFill>
        <p:spPr>
          <a:xfrm>
            <a:off x="743479" y="1720896"/>
            <a:ext cx="5183188" cy="3486103"/>
          </a:xfrm>
        </p:spPr>
      </p:pic>
      <p:pic>
        <p:nvPicPr>
          <p:cNvPr id="12" name="Content Placeholder 11">
            <a:extLst>
              <a:ext uri="{FF2B5EF4-FFF2-40B4-BE49-F238E27FC236}">
                <a16:creationId xmlns:a16="http://schemas.microsoft.com/office/drawing/2014/main" id="{F71A36F8-B7D9-1A4F-D013-9F1E6AD7F43E}"/>
              </a:ext>
            </a:extLst>
          </p:cNvPr>
          <p:cNvPicPr>
            <a:picLocks noGrp="1" noChangeAspect="1"/>
          </p:cNvPicPr>
          <p:nvPr>
            <p:ph sz="half" idx="2"/>
          </p:nvPr>
        </p:nvPicPr>
        <p:blipFill>
          <a:blip r:embed="rId4"/>
          <a:stretch>
            <a:fillRect/>
          </a:stretch>
        </p:blipFill>
        <p:spPr>
          <a:xfrm>
            <a:off x="6197601" y="1720896"/>
            <a:ext cx="5323946" cy="3486103"/>
          </a:xfrm>
        </p:spPr>
      </p:pic>
    </p:spTree>
    <p:extLst>
      <p:ext uri="{BB962C8B-B14F-4D97-AF65-F5344CB8AC3E}">
        <p14:creationId xmlns:p14="http://schemas.microsoft.com/office/powerpoint/2010/main" val="30028067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1D547A7-A11E-98DD-6943-E432D7437EC2}"/>
              </a:ext>
            </a:extLst>
          </p:cNvPr>
          <p:cNvPicPr>
            <a:picLocks noChangeAspect="1"/>
          </p:cNvPicPr>
          <p:nvPr/>
        </p:nvPicPr>
        <p:blipFill>
          <a:blip r:embed="rId2"/>
          <a:stretch>
            <a:fillRect/>
          </a:stretch>
        </p:blipFill>
        <p:spPr>
          <a:xfrm>
            <a:off x="1570819" y="1415845"/>
            <a:ext cx="9345329" cy="5032172"/>
          </a:xfrm>
          <a:prstGeom prst="rect">
            <a:avLst/>
          </a:prstGeom>
        </p:spPr>
      </p:pic>
      <p:sp>
        <p:nvSpPr>
          <p:cNvPr id="4" name="TextBox 3">
            <a:extLst>
              <a:ext uri="{FF2B5EF4-FFF2-40B4-BE49-F238E27FC236}">
                <a16:creationId xmlns:a16="http://schemas.microsoft.com/office/drawing/2014/main" id="{410A0CC8-6C4B-EB4E-2E53-DD0A3F4909B9}"/>
              </a:ext>
            </a:extLst>
          </p:cNvPr>
          <p:cNvSpPr txBox="1"/>
          <p:nvPr/>
        </p:nvSpPr>
        <p:spPr>
          <a:xfrm>
            <a:off x="3883741" y="409983"/>
            <a:ext cx="4719484" cy="769441"/>
          </a:xfrm>
          <a:prstGeom prst="rect">
            <a:avLst/>
          </a:prstGeom>
          <a:noFill/>
        </p:spPr>
        <p:txBody>
          <a:bodyPr wrap="square" rtlCol="0">
            <a:spAutoFit/>
          </a:bodyPr>
          <a:lstStyle/>
          <a:p>
            <a:r>
              <a:rPr lang="en-US" sz="4400" dirty="0">
                <a:latin typeface="Berlin Sans FB" panose="020E0602020502020306" pitchFamily="34" charset="0"/>
                <a:cs typeface="Arial" panose="020B0604020202020204" pitchFamily="34" charset="0"/>
              </a:rPr>
              <a:t>Model Building</a:t>
            </a:r>
            <a:endParaRPr lang="en-IN" sz="4400" dirty="0">
              <a:latin typeface="Berlin Sans FB" panose="020E0602020502020306" pitchFamily="34" charset="0"/>
              <a:cs typeface="Arial" panose="020B0604020202020204" pitchFamily="34" charset="0"/>
            </a:endParaRPr>
          </a:p>
        </p:txBody>
      </p:sp>
    </p:spTree>
    <p:extLst>
      <p:ext uri="{BB962C8B-B14F-4D97-AF65-F5344CB8AC3E}">
        <p14:creationId xmlns:p14="http://schemas.microsoft.com/office/powerpoint/2010/main" val="11608652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9263-A362-D9C4-78B7-8A026CDE5288}"/>
              </a:ext>
            </a:extLst>
          </p:cNvPr>
          <p:cNvSpPr txBox="1"/>
          <p:nvPr/>
        </p:nvSpPr>
        <p:spPr>
          <a:xfrm>
            <a:off x="4208207" y="943897"/>
            <a:ext cx="2585884" cy="769441"/>
          </a:xfrm>
          <a:prstGeom prst="rect">
            <a:avLst/>
          </a:prstGeom>
          <a:noFill/>
        </p:spPr>
        <p:txBody>
          <a:bodyPr wrap="square" rtlCol="0">
            <a:spAutoFit/>
          </a:bodyPr>
          <a:lstStyle/>
          <a:p>
            <a:pPr algn="ctr"/>
            <a:r>
              <a:rPr lang="en-US" sz="4400" dirty="0">
                <a:latin typeface="Berlin Sans FB" panose="020E0602020502020306" pitchFamily="34" charset="0"/>
              </a:rPr>
              <a:t>LINKS</a:t>
            </a:r>
            <a:endParaRPr lang="en-IN" sz="4400" dirty="0">
              <a:latin typeface="Berlin Sans FB" panose="020E0602020502020306" pitchFamily="34" charset="0"/>
            </a:endParaRPr>
          </a:p>
        </p:txBody>
      </p:sp>
      <p:sp>
        <p:nvSpPr>
          <p:cNvPr id="3" name="TextBox 2">
            <a:extLst>
              <a:ext uri="{FF2B5EF4-FFF2-40B4-BE49-F238E27FC236}">
                <a16:creationId xmlns:a16="http://schemas.microsoft.com/office/drawing/2014/main" id="{9D1BF900-E311-487C-20EE-BFC03BB1D92C}"/>
              </a:ext>
            </a:extLst>
          </p:cNvPr>
          <p:cNvSpPr txBox="1"/>
          <p:nvPr/>
        </p:nvSpPr>
        <p:spPr>
          <a:xfrm>
            <a:off x="200634" y="2421879"/>
            <a:ext cx="11991365" cy="3108543"/>
          </a:xfrm>
          <a:prstGeom prst="rect">
            <a:avLst/>
          </a:prstGeom>
          <a:noFill/>
        </p:spPr>
        <p:txBody>
          <a:bodyPr wrap="square" rtlCol="0">
            <a:spAutoFit/>
          </a:bodyPr>
          <a:lstStyle/>
          <a:p>
            <a:pPr marL="305435" indent="-305435" algn="just">
              <a:lnSpc>
                <a:spcPct val="200000"/>
              </a:lnSpc>
            </a:pPr>
            <a:r>
              <a:rPr lang="en-US" dirty="0">
                <a:cs typeface="Arial" panose="020B0604020202020204" pitchFamily="34" charset="0"/>
              </a:rPr>
              <a:t>DATASET LINK </a:t>
            </a:r>
            <a:r>
              <a:rPr lang="en-US" dirty="0"/>
              <a:t>: </a:t>
            </a:r>
            <a:r>
              <a:rPr lang="en-US" dirty="0">
                <a:solidFill>
                  <a:srgbClr val="FF0000"/>
                </a:solidFill>
                <a:ea typeface="+mn-lt"/>
                <a:cs typeface="+mn-lt"/>
                <a:hlinkClick r:id="rId2">
                  <a:extLst>
                    <a:ext uri="{A12FA001-AC4F-418D-AE19-62706E023703}">
                      <ahyp:hlinkClr xmlns:ahyp="http://schemas.microsoft.com/office/drawing/2018/hyperlinkcolor" val="tx"/>
                    </a:ext>
                  </a:extLst>
                </a:hlinkClick>
              </a:rPr>
              <a:t>https://www.kaggle.com/datasets/blurredmachine/are-your-employees-burning-out</a:t>
            </a:r>
          </a:p>
          <a:p>
            <a:pPr marL="0" lvl="8" indent="-305435" algn="just">
              <a:lnSpc>
                <a:spcPct val="200000"/>
              </a:lnSpc>
            </a:pPr>
            <a:r>
              <a:rPr lang="en-US" sz="1700" dirty="0">
                <a:ea typeface="+mn-lt"/>
                <a:cs typeface="+mn-lt"/>
                <a:sym typeface="+mn-ea"/>
              </a:rPr>
              <a:t>MAIL : </a:t>
            </a:r>
            <a:r>
              <a:rPr lang="en-US" sz="1700" dirty="0">
                <a:solidFill>
                  <a:srgbClr val="FF0000"/>
                </a:solidFill>
                <a:ea typeface="+mn-lt"/>
                <a:cs typeface="+mn-lt"/>
                <a:sym typeface="+mn-ea"/>
                <a:hlinkClick r:id="rId3">
                  <a:extLst>
                    <a:ext uri="{A12FA001-AC4F-418D-AE19-62706E023703}">
                      <ahyp:hlinkClr xmlns:ahyp="http://schemas.microsoft.com/office/drawing/2018/hyperlinkcolor" val="tx"/>
                    </a:ext>
                  </a:extLst>
                </a:hlinkClick>
              </a:rPr>
              <a:t>mailto:devisriprasad1969@gmail.com</a:t>
            </a:r>
            <a:endParaRPr lang="en-US" sz="1700" dirty="0">
              <a:solidFill>
                <a:srgbClr val="FF0000"/>
              </a:solidFill>
              <a:ea typeface="+mn-lt"/>
              <a:cs typeface="+mn-lt"/>
              <a:sym typeface="+mn-ea"/>
            </a:endParaRPr>
          </a:p>
          <a:p>
            <a:pPr marL="0" lvl="8" indent="-305435" algn="just">
              <a:lnSpc>
                <a:spcPct val="200000"/>
              </a:lnSpc>
            </a:pPr>
            <a:r>
              <a:rPr lang="en-US" dirty="0">
                <a:ea typeface="+mn-lt"/>
                <a:cs typeface="+mn-lt"/>
              </a:rPr>
              <a:t>GOOGLE COLLAB LINK :</a:t>
            </a:r>
            <a:r>
              <a:rPr lang="en-US" dirty="0">
                <a:solidFill>
                  <a:srgbClr val="FF0000"/>
                </a:solidFill>
                <a:ea typeface="+mn-lt"/>
                <a:cs typeface="+mn-lt"/>
              </a:rPr>
              <a:t> </a:t>
            </a:r>
            <a:r>
              <a:rPr lang="en-US" dirty="0">
                <a:solidFill>
                  <a:srgbClr val="FF0000"/>
                </a:solidFill>
                <a:ea typeface="+mn-lt"/>
                <a:cs typeface="+mn-lt"/>
                <a:hlinkClick r:id="rId4">
                  <a:extLst>
                    <a:ext uri="{A12FA001-AC4F-418D-AE19-62706E023703}">
                      <ahyp:hlinkClr xmlns:ahyp="http://schemas.microsoft.com/office/drawing/2018/hyperlinkcolor" val="tx"/>
                    </a:ext>
                  </a:extLst>
                </a:hlinkClick>
              </a:rPr>
              <a:t>https://colab.research.google.com/drive/1qFWF33-N53D-8vqN_jhVopT_SUTxB8F0?usp=drive_link</a:t>
            </a:r>
            <a:endParaRPr lang="en-US" u="sng" dirty="0">
              <a:solidFill>
                <a:srgbClr val="FF0000"/>
              </a:solidFill>
              <a:ea typeface="+mn-lt"/>
              <a:cs typeface="+mn-lt"/>
            </a:endParaRPr>
          </a:p>
          <a:p>
            <a:pPr marL="0" lvl="8" indent="-305435" algn="just">
              <a:lnSpc>
                <a:spcPct val="200000"/>
              </a:lnSpc>
            </a:pPr>
            <a:r>
              <a:rPr lang="en-US" dirty="0">
                <a:ea typeface="+mn-lt"/>
                <a:cs typeface="+mn-lt"/>
              </a:rPr>
              <a:t>GITHUB LINK :</a:t>
            </a:r>
            <a:r>
              <a:rPr lang="en-US" dirty="0">
                <a:solidFill>
                  <a:srgbClr val="FF0000"/>
                </a:solidFill>
                <a:ea typeface="+mn-lt"/>
                <a:cs typeface="+mn-lt"/>
              </a:rPr>
              <a:t> </a:t>
            </a:r>
            <a:r>
              <a:rPr lang="en-US" dirty="0">
                <a:solidFill>
                  <a:srgbClr val="FF0000"/>
                </a:solidFill>
                <a:ea typeface="+mn-lt"/>
                <a:cs typeface="+mn-lt"/>
                <a:hlinkClick r:id="rId5">
                  <a:extLst>
                    <a:ext uri="{A12FA001-AC4F-418D-AE19-62706E023703}">
                      <ahyp:hlinkClr xmlns:ahyp="http://schemas.microsoft.com/office/drawing/2018/hyperlinkcolor" val="tx"/>
                    </a:ext>
                  </a:extLst>
                </a:hlinkClick>
              </a:rPr>
              <a:t>https://github.com/L1e2a3r4n5e6r7/Employee-Burnout-analysis.git</a:t>
            </a:r>
            <a:endParaRPr lang="en-US" dirty="0">
              <a:solidFill>
                <a:srgbClr val="FF0000"/>
              </a:solidFill>
              <a:ea typeface="+mn-lt"/>
              <a:cs typeface="+mn-lt"/>
            </a:endParaRPr>
          </a:p>
          <a:p>
            <a:pPr marL="305435" indent="-305435"/>
            <a:endParaRPr lang="en-US" u="sng" dirty="0">
              <a:solidFill>
                <a:srgbClr val="FF0000"/>
              </a:solidFill>
              <a:ea typeface="+mn-lt"/>
              <a:cs typeface="+mn-lt"/>
            </a:endParaRPr>
          </a:p>
          <a:p>
            <a:pPr marL="3657600" lvl="8" indent="0">
              <a:buNone/>
            </a:pPr>
            <a:endParaRPr lang="en-IN" altLang="en-US" dirty="0">
              <a:ea typeface="+mn-lt"/>
              <a:cs typeface="+mn-lt"/>
              <a:hlinkClick r:id="rId6"/>
            </a:endParaRPr>
          </a:p>
          <a:p>
            <a:endParaRPr lang="en-IN" dirty="0"/>
          </a:p>
        </p:txBody>
      </p:sp>
    </p:spTree>
    <p:extLst>
      <p:ext uri="{BB962C8B-B14F-4D97-AF65-F5344CB8AC3E}">
        <p14:creationId xmlns:p14="http://schemas.microsoft.com/office/powerpoint/2010/main" val="403695168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88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82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97ECCC31-8429-4523-BE8D-8F09B7A4D4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214</TotalTime>
  <Words>757</Words>
  <Application>Microsoft Office PowerPoint</Application>
  <PresentationFormat>Widescreen</PresentationFormat>
  <Paragraphs>66</Paragraphs>
  <Slides>13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Arial Rounded MT Bold</vt:lpstr>
      <vt:lpstr>Berlin Sans FB</vt:lpstr>
      <vt:lpstr>Calibri</vt:lpstr>
      <vt:lpstr>Times New Roman</vt:lpstr>
      <vt:lpstr>Tw Cen MT</vt:lpstr>
      <vt:lpstr>Wingdings</vt:lpstr>
      <vt:lpstr>Circuit</vt:lpstr>
      <vt:lpstr>Student Details</vt:lpstr>
      <vt:lpstr>Problem Statement: Employee Burnout Prediction</vt:lpstr>
      <vt:lpstr>Project Agenda: Employee Burnout Prediction</vt:lpstr>
      <vt:lpstr>Project Overview: Employee Burnout Prediction</vt:lpstr>
      <vt:lpstr>WHO ARE THE END USERS of this project?</vt:lpstr>
      <vt:lpstr>SOLUTION AND ITS VALUE PROPOSITION</vt:lpstr>
      <vt:lpstr>Customization and Personalization of the Employee Burnout Prediction Project</vt:lpstr>
      <vt:lpstr>Modelling with Linear Regression</vt:lpstr>
      <vt:lpstr>CODE CUSTOMIZATION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Hemanth kumar Dasari</dc:creator>
  <cp:lastModifiedBy>bvsramaprasad1969@outlook.com</cp:lastModifiedBy>
  <cp:revision>2</cp:revision>
  <dcterms:created xsi:type="dcterms:W3CDTF">2024-07-13T14:58:50Z</dcterms:created>
  <dcterms:modified xsi:type="dcterms:W3CDTF">2024-07-14T17:08:57Z</dcterms:modified>
</cp:coreProperties>
</file>